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8" r:id="rId3"/>
    <p:sldId id="261" r:id="rId4"/>
    <p:sldId id="262" r:id="rId5"/>
    <p:sldId id="263" r:id="rId6"/>
    <p:sldId id="264" r:id="rId7"/>
    <p:sldId id="265"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278" r:id="rId29"/>
    <p:sldId id="289" r:id="rId30"/>
    <p:sldId id="275" r:id="rId31"/>
    <p:sldId id="277" r:id="rId32"/>
    <p:sldId id="293"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0C2688-14A2-473E-883E-41F915E13E99}" v="58" dt="2025-12-05T09:50:58.2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6396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1164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28053"/>
            <a:ext cx="12190815" cy="6694098"/>
          </a:xfrm>
          <a:prstGeom prst="rect">
            <a:avLst/>
          </a:prstGeom>
          <a:noFill/>
          <a:ln>
            <a:noFill/>
          </a:ln>
        </p:spPr>
      </p:pic>
      <p:sp>
        <p:nvSpPr>
          <p:cNvPr id="99" name="Google Shape;99;p1"/>
          <p:cNvSpPr txBox="1"/>
          <p:nvPr/>
        </p:nvSpPr>
        <p:spPr>
          <a:xfrm>
            <a:off x="2896772" y="3429000"/>
            <a:ext cx="7246189" cy="2554505"/>
          </a:xfrm>
          <a:prstGeom prst="rect">
            <a:avLst/>
          </a:prstGeom>
          <a:noFill/>
          <a:ln>
            <a:noFill/>
          </a:ln>
        </p:spPr>
        <p:txBody>
          <a:bodyPr spcFirstLastPara="1" wrap="square" lIns="91425" tIns="45700" rIns="91425" bIns="45700" anchor="t" anchorCtr="0">
            <a:spAutoFit/>
          </a:bodyPr>
          <a:lstStyle/>
          <a:p>
            <a:pPr lvl="0" algn="ctr">
              <a:buSzPts val="1800"/>
            </a:pPr>
            <a:r>
              <a:rPr lang="en-IN" sz="3200" b="1" dirty="0"/>
              <a:t>Employee Management System</a:t>
            </a:r>
            <a:endParaRPr lang="en-IN" sz="3200" b="1" i="0" u="none" strike="noStrike" cap="none" dirty="0">
              <a:solidFill>
                <a:srgbClr val="FF0000"/>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1800"/>
              <a:buFont typeface="Arial"/>
              <a:buNone/>
            </a:pPr>
            <a:r>
              <a:rPr lang="en-IN" sz="3200" b="1" dirty="0">
                <a:solidFill>
                  <a:srgbClr val="FF0000"/>
                </a:solidFill>
                <a:latin typeface="+mj-lt"/>
                <a:ea typeface="Calibri"/>
                <a:cs typeface="Calibri"/>
                <a:sym typeface="Calibri"/>
              </a:rPr>
              <a:t>Presented</a:t>
            </a:r>
            <a:r>
              <a:rPr lang="en-IN" sz="3200" b="1" i="0" u="none" strike="noStrike" cap="none" dirty="0">
                <a:solidFill>
                  <a:srgbClr val="FF0000"/>
                </a:solidFill>
                <a:latin typeface="+mj-lt"/>
                <a:ea typeface="Calibri"/>
                <a:cs typeface="Calibri"/>
                <a:sym typeface="Calibri"/>
              </a:rPr>
              <a:t> By</a:t>
            </a:r>
            <a:r>
              <a:rPr lang="en-IN" sz="3200" b="1" dirty="0">
                <a:solidFill>
                  <a:srgbClr val="FF0000"/>
                </a:solidFill>
                <a:latin typeface="+mj-lt"/>
                <a:ea typeface="Calibri"/>
                <a:cs typeface="Calibri"/>
                <a:sym typeface="Calibri"/>
              </a:rPr>
              <a:t>:</a:t>
            </a:r>
          </a:p>
          <a:p>
            <a:pPr marL="0" marR="0" lvl="0" indent="0" algn="r" rtl="0">
              <a:lnSpc>
                <a:spcPct val="100000"/>
              </a:lnSpc>
              <a:spcBef>
                <a:spcPts val="0"/>
              </a:spcBef>
              <a:spcAft>
                <a:spcPts val="0"/>
              </a:spcAft>
              <a:buClr>
                <a:srgbClr val="000000"/>
              </a:buClr>
              <a:buSzPts val="1800"/>
              <a:buFont typeface="Arial"/>
              <a:buNone/>
            </a:pPr>
            <a:r>
              <a:rPr lang="en-IN" sz="3200" b="1" dirty="0">
                <a:solidFill>
                  <a:srgbClr val="FF0000"/>
                </a:solidFill>
                <a:latin typeface="+mj-lt"/>
                <a:ea typeface="Calibri"/>
                <a:cs typeface="Calibri"/>
                <a:sym typeface="Calibri"/>
              </a:rPr>
              <a:t> </a:t>
            </a:r>
            <a:r>
              <a:rPr lang="en-IN" sz="3200" b="1" dirty="0">
                <a:solidFill>
                  <a:schemeClr val="tx1"/>
                </a:solidFill>
                <a:latin typeface="+mj-lt"/>
                <a:ea typeface="Calibri"/>
                <a:cs typeface="Calibri"/>
                <a:sym typeface="Calibri"/>
              </a:rPr>
              <a:t>Akanksha</a:t>
            </a:r>
            <a:r>
              <a:rPr lang="en-IN" sz="3200" b="1" dirty="0">
                <a:solidFill>
                  <a:schemeClr val="tx1">
                    <a:lumMod val="95000"/>
                    <a:lumOff val="5000"/>
                  </a:schemeClr>
                </a:solidFill>
                <a:latin typeface="+mj-lt"/>
                <a:ea typeface="Calibri"/>
                <a:cs typeface="Calibri"/>
                <a:sym typeface="Calibri"/>
              </a:rPr>
              <a:t>. A</a:t>
            </a:r>
          </a:p>
          <a:p>
            <a:pPr marL="0" marR="0" lvl="0" indent="0" algn="r" rtl="0">
              <a:lnSpc>
                <a:spcPct val="100000"/>
              </a:lnSpc>
              <a:spcBef>
                <a:spcPts val="0"/>
              </a:spcBef>
              <a:spcAft>
                <a:spcPts val="0"/>
              </a:spcAft>
              <a:buClr>
                <a:srgbClr val="000000"/>
              </a:buClr>
              <a:buSzPts val="1800"/>
              <a:buFont typeface="Arial"/>
              <a:buNone/>
            </a:pPr>
            <a:r>
              <a:rPr lang="en-IN" sz="3200" b="1" i="0" u="none" strike="noStrike" cap="none" dirty="0">
                <a:solidFill>
                  <a:schemeClr val="tx1">
                    <a:lumMod val="95000"/>
                    <a:lumOff val="5000"/>
                  </a:schemeClr>
                </a:solidFill>
                <a:latin typeface="+mj-lt"/>
                <a:ea typeface="Calibri"/>
                <a:cs typeface="Calibri"/>
                <a:sym typeface="Calibri"/>
              </a:rPr>
              <a:t>         </a:t>
            </a:r>
            <a:r>
              <a:rPr lang="en-IN" sz="3200" b="1" dirty="0">
                <a:solidFill>
                  <a:schemeClr val="tx1">
                    <a:lumMod val="95000"/>
                    <a:lumOff val="5000"/>
                  </a:schemeClr>
                </a:solidFill>
                <a:latin typeface="+mj-lt"/>
                <a:ea typeface="Calibri"/>
                <a:cs typeface="Calibri"/>
                <a:sym typeface="Calibri"/>
              </a:rPr>
              <a:t>Neeraja. D</a:t>
            </a:r>
          </a:p>
          <a:p>
            <a:pPr marL="0" marR="0" lvl="0" indent="0" algn="r" rtl="0">
              <a:lnSpc>
                <a:spcPct val="100000"/>
              </a:lnSpc>
              <a:spcBef>
                <a:spcPts val="0"/>
              </a:spcBef>
              <a:spcAft>
                <a:spcPts val="0"/>
              </a:spcAft>
              <a:buClr>
                <a:srgbClr val="000000"/>
              </a:buClr>
              <a:buSzPts val="1800"/>
              <a:buFont typeface="Arial"/>
              <a:buNone/>
            </a:pPr>
            <a:r>
              <a:rPr lang="en-IN" sz="3200" b="1" dirty="0">
                <a:solidFill>
                  <a:schemeClr val="tx1">
                    <a:lumMod val="95000"/>
                    <a:lumOff val="5000"/>
                  </a:schemeClr>
                </a:solidFill>
                <a:latin typeface="+mj-lt"/>
                <a:ea typeface="Calibri"/>
                <a:cs typeface="Calibri"/>
                <a:sym typeface="Calibri"/>
              </a:rPr>
              <a:t>   Vishnu </a:t>
            </a:r>
            <a:r>
              <a:rPr lang="en-IN" sz="3200" b="1" dirty="0" err="1">
                <a:solidFill>
                  <a:schemeClr val="tx1">
                    <a:lumMod val="95000"/>
                    <a:lumOff val="5000"/>
                  </a:schemeClr>
                </a:solidFill>
                <a:latin typeface="+mj-lt"/>
                <a:ea typeface="Calibri"/>
                <a:cs typeface="Calibri"/>
                <a:sym typeface="Calibri"/>
              </a:rPr>
              <a:t>Priya.G</a:t>
            </a:r>
            <a:r>
              <a:rPr lang="en-IN" sz="3200" b="1" dirty="0">
                <a:solidFill>
                  <a:schemeClr val="tx1">
                    <a:lumMod val="95000"/>
                    <a:lumOff val="5000"/>
                  </a:schemeClr>
                </a:solidFill>
                <a:latin typeface="+mj-lt"/>
                <a:ea typeface="Calibri"/>
                <a:cs typeface="Calibri"/>
                <a:sym typeface="Calibri"/>
              </a:rPr>
              <a:t> </a:t>
            </a:r>
            <a:endParaRPr sz="3200" b="1" i="0" u="none" strike="noStrike" cap="none" dirty="0">
              <a:solidFill>
                <a:schemeClr val="tx1">
                  <a:lumMod val="95000"/>
                  <a:lumOff val="5000"/>
                </a:schemeClr>
              </a:solidFill>
              <a:latin typeface="+mj-lt"/>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76748" y="18255"/>
            <a:ext cx="9947324"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200" b="1" dirty="0">
                <a:solidFill>
                  <a:srgbClr val="FF0000"/>
                </a:solidFill>
                <a:latin typeface="+mj-lt"/>
              </a:rPr>
              <a:t>Agenda</a:t>
            </a:r>
            <a:endParaRPr sz="3200" b="1" dirty="0">
              <a:solidFill>
                <a:srgbClr val="FF0000"/>
              </a:solidFill>
              <a:latin typeface="+mj-lt"/>
            </a:endParaRPr>
          </a:p>
        </p:txBody>
      </p:sp>
      <p:sp>
        <p:nvSpPr>
          <p:cNvPr id="111" name="Google Shape;111;p4"/>
          <p:cNvSpPr txBox="1">
            <a:spLocks noGrp="1"/>
          </p:cNvSpPr>
          <p:nvPr>
            <p:ph type="body" idx="1"/>
          </p:nvPr>
        </p:nvSpPr>
        <p:spPr>
          <a:xfrm>
            <a:off x="776748" y="996695"/>
            <a:ext cx="10423732" cy="5273673"/>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latin typeface="+mn-lt"/>
              </a:rPr>
              <a:t>Objective of the Project</a:t>
            </a:r>
          </a:p>
          <a:p>
            <a:pPr marL="457200" lvl="0" indent="-431800" algn="l" rtl="0">
              <a:lnSpc>
                <a:spcPct val="90000"/>
              </a:lnSpc>
              <a:spcBef>
                <a:spcPts val="1000"/>
              </a:spcBef>
              <a:spcAft>
                <a:spcPts val="0"/>
              </a:spcAft>
              <a:buSzPts val="2400"/>
              <a:buChar char="•"/>
            </a:pPr>
            <a:r>
              <a:rPr lang="en-IN" sz="2400" b="1" dirty="0">
                <a:latin typeface="+mn-lt"/>
              </a:rPr>
              <a:t>Problem Statement</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ER Diagram </a:t>
            </a:r>
          </a:p>
          <a:p>
            <a:pPr marL="457200" lvl="0" indent="-431800" algn="l" rtl="0">
              <a:lnSpc>
                <a:spcPct val="90000"/>
              </a:lnSpc>
              <a:spcBef>
                <a:spcPts val="1000"/>
              </a:spcBef>
              <a:spcAft>
                <a:spcPts val="0"/>
              </a:spcAft>
              <a:buSzPts val="2400"/>
              <a:buChar char="•"/>
            </a:pPr>
            <a:r>
              <a:rPr lang="en-IN" sz="2400" b="1" dirty="0">
                <a:latin typeface="+mn-lt"/>
              </a:rPr>
              <a:t>Schema explanation</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Key analysis questions (use cases)</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SQL query results with screenshots or summaries</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Final business insights </a:t>
            </a:r>
          </a:p>
          <a:p>
            <a:pPr marL="457200" lvl="0" indent="-431800" algn="l" rtl="0">
              <a:lnSpc>
                <a:spcPct val="90000"/>
              </a:lnSpc>
              <a:spcBef>
                <a:spcPts val="1000"/>
              </a:spcBef>
              <a:spcAft>
                <a:spcPts val="0"/>
              </a:spcAft>
              <a:buSzPts val="2400"/>
              <a:buChar char="•"/>
            </a:pPr>
            <a:r>
              <a:rPr lang="en-IN" sz="2400" b="1" dirty="0">
                <a:latin typeface="+mn-lt"/>
              </a:rPr>
              <a:t>Recommendations for Business</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Conclusion (Key finding overall) </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Q&amp;A Slide </a:t>
            </a:r>
            <a:endParaRPr sz="2400" dirty="0">
              <a:latin typeface="+mn-lt"/>
            </a:endParaRPr>
          </a:p>
          <a:p>
            <a:pPr marL="457200" lvl="0" indent="-431800" algn="l" rtl="0">
              <a:lnSpc>
                <a:spcPct val="90000"/>
              </a:lnSpc>
              <a:spcBef>
                <a:spcPts val="1000"/>
              </a:spcBef>
              <a:spcAft>
                <a:spcPts val="0"/>
              </a:spcAft>
              <a:buSzPts val="2400"/>
              <a:buChar char="•"/>
            </a:pPr>
            <a:r>
              <a:rPr lang="en-IN" sz="2400" b="1" dirty="0">
                <a:latin typeface="+mn-lt"/>
              </a:rPr>
              <a:t>Challenges working on SQL – Data Analysis Project.</a:t>
            </a:r>
            <a:endParaRPr sz="2400" dirty="0">
              <a:latin typeface="+mn-lt"/>
            </a:endParaRP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3CCA-AEF2-9A2F-864D-2B303C15ED5C}"/>
              </a:ext>
            </a:extLst>
          </p:cNvPr>
          <p:cNvSpPr>
            <a:spLocks noGrp="1"/>
          </p:cNvSpPr>
          <p:nvPr>
            <p:ph type="title"/>
          </p:nvPr>
        </p:nvSpPr>
        <p:spPr/>
        <p:txBody>
          <a:bodyPr>
            <a:normAutofit/>
          </a:bodyPr>
          <a:lstStyle/>
          <a:p>
            <a:r>
              <a:rPr lang="en-IN" sz="3200" b="1" dirty="0">
                <a:solidFill>
                  <a:srgbClr val="FF0000"/>
                </a:solidFill>
                <a:latin typeface="+mj-lt"/>
                <a:ea typeface="Calibri" panose="020F0502020204030204" pitchFamily="34" charset="0"/>
                <a:cs typeface="Times New Roman" panose="02020603050405020304" pitchFamily="18" charset="0"/>
              </a:rPr>
              <a:t>OBJECTIVE OF THE PROJECT</a:t>
            </a:r>
          </a:p>
        </p:txBody>
      </p:sp>
      <p:sp>
        <p:nvSpPr>
          <p:cNvPr id="3" name="Text Placeholder 2">
            <a:extLst>
              <a:ext uri="{FF2B5EF4-FFF2-40B4-BE49-F238E27FC236}">
                <a16:creationId xmlns:a16="http://schemas.microsoft.com/office/drawing/2014/main" id="{76F1BECE-2FA0-0D5C-DCD6-E71A9ED2C004}"/>
              </a:ext>
            </a:extLst>
          </p:cNvPr>
          <p:cNvSpPr>
            <a:spLocks noGrp="1"/>
          </p:cNvSpPr>
          <p:nvPr>
            <p:ph type="body" idx="1"/>
          </p:nvPr>
        </p:nvSpPr>
        <p:spPr>
          <a:xfrm>
            <a:off x="838200" y="1366684"/>
            <a:ext cx="10515600" cy="4810279"/>
          </a:xfrm>
        </p:spPr>
        <p:txBody>
          <a:bodyPr>
            <a:normAutofit/>
          </a:bodyPr>
          <a:lstStyle/>
          <a:p>
            <a:pPr marL="114300" indent="0" algn="just">
              <a:lnSpc>
                <a:spcPct val="100000"/>
              </a:lnSpc>
              <a:buNone/>
            </a:pPr>
            <a:r>
              <a:rPr lang="en-US" dirty="0"/>
              <a:t>The main goals of this SQL project are: </a:t>
            </a:r>
          </a:p>
          <a:p>
            <a:pPr marL="114300" indent="0" algn="just">
              <a:lnSpc>
                <a:spcPct val="100000"/>
              </a:lnSpc>
              <a:buNone/>
            </a:pPr>
            <a:r>
              <a:rPr lang="en-US" dirty="0"/>
              <a:t>● To design and implement a relational database for Employee Management System. </a:t>
            </a:r>
          </a:p>
          <a:p>
            <a:pPr marL="114300" indent="0" algn="just">
              <a:lnSpc>
                <a:spcPct val="100000"/>
              </a:lnSpc>
              <a:buNone/>
            </a:pPr>
            <a:r>
              <a:rPr lang="en-US" dirty="0"/>
              <a:t>● To retrieve and manipulate data using SQL queries.</a:t>
            </a:r>
          </a:p>
          <a:p>
            <a:pPr marL="114300" indent="0" algn="just">
              <a:lnSpc>
                <a:spcPct val="100000"/>
              </a:lnSpc>
              <a:buNone/>
            </a:pPr>
            <a:r>
              <a:rPr lang="en-US" dirty="0"/>
              <a:t>●The system helps maintain employee details, job roles, qualifications,    leaves, and payroll information</a:t>
            </a:r>
          </a:p>
          <a:p>
            <a:pPr marL="114300" indent="0" algn="just">
              <a:lnSpc>
                <a:spcPct val="100000"/>
              </a:lnSpc>
              <a:buNone/>
            </a:pPr>
            <a:r>
              <a:rPr lang="en-US" dirty="0"/>
              <a:t>●The project also provides useful insights for HR through SQL queries such as salary analysis, leave patterns, and departmental performance.</a:t>
            </a:r>
            <a:endParaRPr lang="en-IN" dirty="0">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5166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AA10-81E0-1E0D-205C-57AA7BC8F97A}"/>
              </a:ext>
            </a:extLst>
          </p:cNvPr>
          <p:cNvSpPr>
            <a:spLocks noGrp="1"/>
          </p:cNvSpPr>
          <p:nvPr>
            <p:ph type="title"/>
          </p:nvPr>
        </p:nvSpPr>
        <p:spPr/>
        <p:txBody>
          <a:bodyPr>
            <a:normAutofit/>
          </a:bodyPr>
          <a:lstStyle/>
          <a:p>
            <a:r>
              <a:rPr lang="en-IN" sz="3200" b="1" dirty="0">
                <a:solidFill>
                  <a:srgbClr val="FF0000"/>
                </a:solidFill>
                <a:latin typeface="+mj-lt"/>
              </a:rPr>
              <a:t>PROBLEM STATEMENT</a:t>
            </a:r>
          </a:p>
        </p:txBody>
      </p:sp>
      <p:sp>
        <p:nvSpPr>
          <p:cNvPr id="3" name="Text Placeholder 2">
            <a:extLst>
              <a:ext uri="{FF2B5EF4-FFF2-40B4-BE49-F238E27FC236}">
                <a16:creationId xmlns:a16="http://schemas.microsoft.com/office/drawing/2014/main" id="{1D9ED916-DAA8-6CA7-37C6-6D2204FF1BE0}"/>
              </a:ext>
            </a:extLst>
          </p:cNvPr>
          <p:cNvSpPr>
            <a:spLocks noGrp="1"/>
          </p:cNvSpPr>
          <p:nvPr>
            <p:ph type="body" idx="1"/>
          </p:nvPr>
        </p:nvSpPr>
        <p:spPr>
          <a:xfrm>
            <a:off x="838200" y="1386348"/>
            <a:ext cx="10515600" cy="4790616"/>
          </a:xfrm>
        </p:spPr>
        <p:txBody>
          <a:bodyPr>
            <a:normAutofit fontScale="92500"/>
          </a:bodyPr>
          <a:lstStyle/>
          <a:p>
            <a:pPr marL="114300" indent="0" algn="just">
              <a:lnSpc>
                <a:spcPct val="100000"/>
              </a:lnSpc>
              <a:buNone/>
            </a:pPr>
            <a:r>
              <a:rPr lang="en-US" sz="3200" dirty="0"/>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pPr marL="114300" indent="0" algn="just">
              <a:lnSpc>
                <a:spcPct val="100000"/>
              </a:lnSpc>
              <a:buNone/>
            </a:pPr>
            <a:br>
              <a:rPr lang="en-US" sz="2400" dirty="0">
                <a:latin typeface="+mn-lt"/>
              </a:rPr>
            </a:br>
            <a:endParaRPr lang="en-IN" sz="2400" dirty="0">
              <a:latin typeface="+mn-lt"/>
            </a:endParaRPr>
          </a:p>
        </p:txBody>
      </p:sp>
    </p:spTree>
    <p:extLst>
      <p:ext uri="{BB962C8B-B14F-4D97-AF65-F5344CB8AC3E}">
        <p14:creationId xmlns:p14="http://schemas.microsoft.com/office/powerpoint/2010/main" val="154667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8095-D369-EBBA-21A3-B231A9702C2D}"/>
              </a:ext>
            </a:extLst>
          </p:cNvPr>
          <p:cNvSpPr>
            <a:spLocks noGrp="1"/>
          </p:cNvSpPr>
          <p:nvPr>
            <p:ph type="title"/>
          </p:nvPr>
        </p:nvSpPr>
        <p:spPr/>
        <p:txBody>
          <a:bodyPr>
            <a:normAutofit/>
          </a:bodyPr>
          <a:lstStyle/>
          <a:p>
            <a:r>
              <a:rPr lang="en-IN" sz="3200" b="1" dirty="0">
                <a:solidFill>
                  <a:srgbClr val="FF0000"/>
                </a:solidFill>
                <a:latin typeface="+mj-lt"/>
              </a:rPr>
              <a:t>ENTITY- RELATIONSHIP DIAGRAM</a:t>
            </a:r>
          </a:p>
        </p:txBody>
      </p:sp>
      <p:sp>
        <p:nvSpPr>
          <p:cNvPr id="3" name="Text Placeholder 2">
            <a:extLst>
              <a:ext uri="{FF2B5EF4-FFF2-40B4-BE49-F238E27FC236}">
                <a16:creationId xmlns:a16="http://schemas.microsoft.com/office/drawing/2014/main" id="{B95B3934-AFFC-804A-D845-54D29212EF5E}"/>
              </a:ext>
            </a:extLst>
          </p:cNvPr>
          <p:cNvSpPr>
            <a:spLocks noGrp="1"/>
          </p:cNvSpPr>
          <p:nvPr>
            <p:ph type="body" idx="1"/>
          </p:nvPr>
        </p:nvSpPr>
        <p:spPr>
          <a:xfrm>
            <a:off x="838200" y="1401461"/>
            <a:ext cx="10515600" cy="4775501"/>
          </a:xfrm>
        </p:spPr>
        <p:txBody>
          <a:bodyPr/>
          <a:lstStyle/>
          <a:p>
            <a:pPr marL="114300" indent="0">
              <a:buNone/>
            </a:pPr>
            <a:endParaRPr lang="en-IN" dirty="0"/>
          </a:p>
        </p:txBody>
      </p:sp>
      <p:pic>
        <p:nvPicPr>
          <p:cNvPr id="6" name="Picture 5">
            <a:extLst>
              <a:ext uri="{FF2B5EF4-FFF2-40B4-BE49-F238E27FC236}">
                <a16:creationId xmlns:a16="http://schemas.microsoft.com/office/drawing/2014/main" id="{BF4D6BA1-1A3E-4AE8-53E1-06FDD84A95FC}"/>
              </a:ext>
            </a:extLst>
          </p:cNvPr>
          <p:cNvPicPr>
            <a:picLocks noChangeAspect="1"/>
          </p:cNvPicPr>
          <p:nvPr/>
        </p:nvPicPr>
        <p:blipFill>
          <a:blip r:embed="rId2"/>
          <a:srcRect/>
          <a:stretch/>
        </p:blipFill>
        <p:spPr>
          <a:xfrm>
            <a:off x="502920" y="1401461"/>
            <a:ext cx="11173967" cy="4775501"/>
          </a:xfrm>
          <a:prstGeom prst="rect">
            <a:avLst/>
          </a:prstGeom>
        </p:spPr>
      </p:pic>
    </p:spTree>
    <p:extLst>
      <p:ext uri="{BB962C8B-B14F-4D97-AF65-F5344CB8AC3E}">
        <p14:creationId xmlns:p14="http://schemas.microsoft.com/office/powerpoint/2010/main" val="3603237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437E-2D55-405A-A2B6-40D7C87DB008}"/>
              </a:ext>
            </a:extLst>
          </p:cNvPr>
          <p:cNvSpPr>
            <a:spLocks noGrp="1"/>
          </p:cNvSpPr>
          <p:nvPr>
            <p:ph type="title"/>
          </p:nvPr>
        </p:nvSpPr>
        <p:spPr/>
        <p:txBody>
          <a:bodyPr>
            <a:normAutofit/>
          </a:bodyPr>
          <a:lstStyle/>
          <a:p>
            <a:r>
              <a:rPr lang="en-IN" sz="3200" b="1" dirty="0">
                <a:solidFill>
                  <a:srgbClr val="FF0000"/>
                </a:solidFill>
                <a:latin typeface="+mn-lt"/>
              </a:rPr>
              <a:t>SCHEMA EXPLANATION</a:t>
            </a:r>
          </a:p>
        </p:txBody>
      </p:sp>
      <p:sp>
        <p:nvSpPr>
          <p:cNvPr id="3" name="Text Placeholder 2">
            <a:extLst>
              <a:ext uri="{FF2B5EF4-FFF2-40B4-BE49-F238E27FC236}">
                <a16:creationId xmlns:a16="http://schemas.microsoft.com/office/drawing/2014/main" id="{94602369-62E5-9C55-2EB1-785E941E346F}"/>
              </a:ext>
            </a:extLst>
          </p:cNvPr>
          <p:cNvSpPr>
            <a:spLocks noGrp="1"/>
          </p:cNvSpPr>
          <p:nvPr>
            <p:ph type="body" idx="1"/>
          </p:nvPr>
        </p:nvSpPr>
        <p:spPr>
          <a:xfrm>
            <a:off x="838200" y="1307690"/>
            <a:ext cx="10515600" cy="4869273"/>
          </a:xfrm>
        </p:spPr>
        <p:txBody>
          <a:bodyPr>
            <a:normAutofit/>
          </a:bodyPr>
          <a:lstStyle/>
          <a:p>
            <a:pPr marL="114300" indent="0" algn="just">
              <a:lnSpc>
                <a:spcPct val="100000"/>
              </a:lnSpc>
              <a:buNone/>
            </a:pPr>
            <a:r>
              <a:rPr lang="en-US" sz="2400" dirty="0"/>
              <a:t>The schema of the Employee Management System organizes and connects employee-related data in the database.</a:t>
            </a:r>
          </a:p>
          <a:p>
            <a:pPr marL="114300" indent="0" algn="just">
              <a:lnSpc>
                <a:spcPct val="100000"/>
              </a:lnSpc>
              <a:buNone/>
            </a:pPr>
            <a:r>
              <a:rPr lang="en-US" sz="2400" dirty="0"/>
              <a:t>It includes tables such as </a:t>
            </a:r>
            <a:r>
              <a:rPr lang="en-US" sz="2400" b="1" dirty="0"/>
              <a:t>Employee, </a:t>
            </a:r>
            <a:r>
              <a:rPr lang="en-US" sz="2400" b="1" dirty="0" err="1"/>
              <a:t>JobDepartment</a:t>
            </a:r>
            <a:r>
              <a:rPr lang="en-US" sz="2400" b="1" dirty="0"/>
              <a:t>, </a:t>
            </a:r>
            <a:r>
              <a:rPr lang="en-US" sz="2400" b="1" dirty="0" err="1"/>
              <a:t>SalaryBonus</a:t>
            </a:r>
            <a:r>
              <a:rPr lang="en-US" sz="2400" b="1" dirty="0"/>
              <a:t>, Payroll, Qualification, and Leaves</a:t>
            </a:r>
            <a:r>
              <a:rPr lang="en-US" sz="2400" dirty="0"/>
              <a:t>.</a:t>
            </a:r>
          </a:p>
          <a:p>
            <a:pPr marL="114300" indent="0" algn="just">
              <a:lnSpc>
                <a:spcPct val="100000"/>
              </a:lnSpc>
              <a:buNone/>
            </a:pPr>
            <a:r>
              <a:rPr lang="en-US" sz="2400" dirty="0"/>
              <a:t>Employees are linked to job roles using </a:t>
            </a:r>
            <a:r>
              <a:rPr lang="en-US" sz="2400" b="1" dirty="0" err="1"/>
              <a:t>Job_ID</a:t>
            </a:r>
            <a:r>
              <a:rPr lang="en-US" sz="2400" dirty="0"/>
              <a:t>, and payroll, qualifications, and leaves connect through </a:t>
            </a:r>
            <a:r>
              <a:rPr lang="en-US" sz="2400" b="1" dirty="0" err="1"/>
              <a:t>Emp_ID</a:t>
            </a:r>
            <a:r>
              <a:rPr lang="en-US" sz="2400" dirty="0"/>
              <a:t>.</a:t>
            </a:r>
          </a:p>
          <a:p>
            <a:pPr marL="114300" indent="0" algn="just">
              <a:lnSpc>
                <a:spcPct val="100000"/>
              </a:lnSpc>
              <a:buNone/>
            </a:pPr>
            <a:r>
              <a:rPr lang="en-US" sz="2400" dirty="0"/>
              <a:t>Salary structures are defined through the </a:t>
            </a:r>
            <a:r>
              <a:rPr lang="en-US" sz="2400" b="1" dirty="0" err="1"/>
              <a:t>SalaryBonus</a:t>
            </a:r>
            <a:r>
              <a:rPr lang="en-US" sz="2400" dirty="0"/>
              <a:t> table linked to </a:t>
            </a:r>
            <a:r>
              <a:rPr lang="en-US" sz="2400" dirty="0" err="1"/>
              <a:t>JobDepartment</a:t>
            </a:r>
            <a:r>
              <a:rPr lang="en-US" sz="2400" dirty="0"/>
              <a:t>.</a:t>
            </a:r>
          </a:p>
          <a:p>
            <a:pPr marL="114300" indent="0" algn="just">
              <a:lnSpc>
                <a:spcPct val="100000"/>
              </a:lnSpc>
              <a:buNone/>
            </a:pPr>
            <a:r>
              <a:rPr lang="en-US" sz="2400" dirty="0"/>
              <a:t>These relationships help manage employee information, salary processing, and leave tracking efficiently</a:t>
            </a:r>
            <a:r>
              <a:rPr lang="en-US" dirty="0"/>
              <a:t>.</a:t>
            </a:r>
            <a:endParaRPr lang="en-IN" dirty="0">
              <a:latin typeface="+mn-lt"/>
            </a:endParaRPr>
          </a:p>
        </p:txBody>
      </p:sp>
    </p:spTree>
    <p:extLst>
      <p:ext uri="{BB962C8B-B14F-4D97-AF65-F5344CB8AC3E}">
        <p14:creationId xmlns:p14="http://schemas.microsoft.com/office/powerpoint/2010/main" val="375702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E9AD-5EC8-B841-043F-732BEFC6051E}"/>
              </a:ext>
            </a:extLst>
          </p:cNvPr>
          <p:cNvSpPr>
            <a:spLocks noGrp="1"/>
          </p:cNvSpPr>
          <p:nvPr>
            <p:ph type="title"/>
          </p:nvPr>
        </p:nvSpPr>
        <p:spPr>
          <a:xfrm>
            <a:off x="838200" y="128017"/>
            <a:ext cx="10515600" cy="1228835"/>
          </a:xfrm>
        </p:spPr>
        <p:txBody>
          <a:bodyPr>
            <a:normAutofit/>
          </a:bodyPr>
          <a:lstStyle/>
          <a:p>
            <a:r>
              <a:rPr lang="en-IN" sz="3200" b="1" dirty="0">
                <a:solidFill>
                  <a:srgbClr val="FF0000"/>
                </a:solidFill>
                <a:latin typeface="+mn-lt"/>
              </a:rPr>
              <a:t>EMPLOYEE INSIGHTS</a:t>
            </a:r>
          </a:p>
        </p:txBody>
      </p:sp>
      <p:sp>
        <p:nvSpPr>
          <p:cNvPr id="3" name="Text Placeholder 2">
            <a:extLst>
              <a:ext uri="{FF2B5EF4-FFF2-40B4-BE49-F238E27FC236}">
                <a16:creationId xmlns:a16="http://schemas.microsoft.com/office/drawing/2014/main" id="{8BC4FD28-C32A-42AB-642A-FD426EB7F854}"/>
              </a:ext>
            </a:extLst>
          </p:cNvPr>
          <p:cNvSpPr>
            <a:spLocks noGrp="1"/>
          </p:cNvSpPr>
          <p:nvPr>
            <p:ph type="body" idx="1"/>
          </p:nvPr>
        </p:nvSpPr>
        <p:spPr>
          <a:xfrm>
            <a:off x="838200" y="1356852"/>
            <a:ext cx="10515600" cy="4820111"/>
          </a:xfrm>
        </p:spPr>
        <p:txBody>
          <a:bodyPr/>
          <a:lstStyle/>
          <a:p>
            <a:pPr marL="114300" indent="0">
              <a:buNone/>
            </a:pPr>
            <a:r>
              <a:rPr lang="en-IN" sz="2400" dirty="0">
                <a:latin typeface="+mj-lt"/>
              </a:rPr>
              <a:t>1. </a:t>
            </a:r>
            <a:r>
              <a:rPr lang="en-US" sz="2400" dirty="0">
                <a:latin typeface="+mj-lt"/>
              </a:rPr>
              <a:t>How many unique employees are currently in the system?</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sz="2400" dirty="0">
                <a:latin typeface="+mn-lt"/>
              </a:rPr>
              <a:t>Output :</a:t>
            </a:r>
            <a:endParaRPr lang="en-IN" dirty="0"/>
          </a:p>
          <a:p>
            <a:pPr marL="114300" indent="0">
              <a:buNone/>
            </a:pPr>
            <a:endParaRPr lang="en-IN" dirty="0">
              <a:latin typeface="+mn-lt"/>
            </a:endParaRPr>
          </a:p>
        </p:txBody>
      </p:sp>
      <p:pic>
        <p:nvPicPr>
          <p:cNvPr id="6" name="Picture 5">
            <a:extLst>
              <a:ext uri="{FF2B5EF4-FFF2-40B4-BE49-F238E27FC236}">
                <a16:creationId xmlns:a16="http://schemas.microsoft.com/office/drawing/2014/main" id="{8A2021DE-791F-AC1B-B344-5999E4A4E861}"/>
              </a:ext>
            </a:extLst>
          </p:cNvPr>
          <p:cNvPicPr>
            <a:picLocks noChangeAspect="1"/>
          </p:cNvPicPr>
          <p:nvPr/>
        </p:nvPicPr>
        <p:blipFill>
          <a:blip r:embed="rId2"/>
          <a:srcRect/>
          <a:stretch/>
        </p:blipFill>
        <p:spPr>
          <a:xfrm>
            <a:off x="2686664" y="2362536"/>
            <a:ext cx="4867954" cy="628425"/>
          </a:xfrm>
          <a:prstGeom prst="rect">
            <a:avLst/>
          </a:prstGeom>
        </p:spPr>
      </p:pic>
      <p:pic>
        <p:nvPicPr>
          <p:cNvPr id="9" name="Picture 8">
            <a:extLst>
              <a:ext uri="{FF2B5EF4-FFF2-40B4-BE49-F238E27FC236}">
                <a16:creationId xmlns:a16="http://schemas.microsoft.com/office/drawing/2014/main" id="{6254630A-50B1-E44C-C007-D4BB4D86EC5A}"/>
              </a:ext>
            </a:extLst>
          </p:cNvPr>
          <p:cNvPicPr>
            <a:picLocks noChangeAspect="1"/>
          </p:cNvPicPr>
          <p:nvPr/>
        </p:nvPicPr>
        <p:blipFill>
          <a:blip r:embed="rId3"/>
          <a:srcRect/>
          <a:stretch/>
        </p:blipFill>
        <p:spPr>
          <a:xfrm>
            <a:off x="2686664" y="4748179"/>
            <a:ext cx="5699760" cy="954973"/>
          </a:xfrm>
          <a:prstGeom prst="rect">
            <a:avLst/>
          </a:prstGeom>
        </p:spPr>
      </p:pic>
    </p:spTree>
    <p:extLst>
      <p:ext uri="{BB962C8B-B14F-4D97-AF65-F5344CB8AC3E}">
        <p14:creationId xmlns:p14="http://schemas.microsoft.com/office/powerpoint/2010/main" val="359197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D6FBE-270C-2075-FBAD-F27F07AB96F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E8F8459-0777-A0EA-DB70-EA2695DE4C90}"/>
              </a:ext>
            </a:extLst>
          </p:cNvPr>
          <p:cNvSpPr>
            <a:spLocks noGrp="1"/>
          </p:cNvSpPr>
          <p:nvPr>
            <p:ph type="body" idx="1"/>
          </p:nvPr>
        </p:nvSpPr>
        <p:spPr>
          <a:xfrm>
            <a:off x="838200" y="795528"/>
            <a:ext cx="10515600" cy="5381435"/>
          </a:xfrm>
        </p:spPr>
        <p:txBody>
          <a:bodyPr/>
          <a:lstStyle/>
          <a:p>
            <a:pPr marL="114300" indent="0">
              <a:buNone/>
            </a:pPr>
            <a:r>
              <a:rPr lang="en-IN" sz="2400" dirty="0">
                <a:latin typeface="+mj-lt"/>
              </a:rPr>
              <a:t>2. </a:t>
            </a:r>
            <a:r>
              <a:rPr lang="en-US" sz="2400" dirty="0">
                <a:latin typeface="+mj-lt"/>
              </a:rPr>
              <a:t>Which departments have the highest number of employees?</a:t>
            </a:r>
            <a:r>
              <a:rPr lang="en-IN" sz="2400" dirty="0">
                <a:latin typeface="+mj-lt"/>
              </a:rPr>
              <a:t> </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latin typeface="+mn-lt"/>
              </a:rPr>
              <a:t>Output :</a:t>
            </a:r>
          </a:p>
        </p:txBody>
      </p:sp>
      <p:pic>
        <p:nvPicPr>
          <p:cNvPr id="6" name="Picture 5">
            <a:extLst>
              <a:ext uri="{FF2B5EF4-FFF2-40B4-BE49-F238E27FC236}">
                <a16:creationId xmlns:a16="http://schemas.microsoft.com/office/drawing/2014/main" id="{B7227BA6-D07D-9A69-D149-6F1422ADDD6B}"/>
              </a:ext>
            </a:extLst>
          </p:cNvPr>
          <p:cNvPicPr>
            <a:picLocks noChangeAspect="1"/>
          </p:cNvPicPr>
          <p:nvPr/>
        </p:nvPicPr>
        <p:blipFill>
          <a:blip r:embed="rId2"/>
          <a:srcRect/>
          <a:stretch/>
        </p:blipFill>
        <p:spPr>
          <a:xfrm>
            <a:off x="2843204" y="1554480"/>
            <a:ext cx="4618299" cy="1810512"/>
          </a:xfrm>
          <a:prstGeom prst="rect">
            <a:avLst/>
          </a:prstGeom>
        </p:spPr>
      </p:pic>
      <p:pic>
        <p:nvPicPr>
          <p:cNvPr id="9" name="Picture 8">
            <a:extLst>
              <a:ext uri="{FF2B5EF4-FFF2-40B4-BE49-F238E27FC236}">
                <a16:creationId xmlns:a16="http://schemas.microsoft.com/office/drawing/2014/main" id="{0B372612-BC03-6357-FEB4-5F16AA0E8DF5}"/>
              </a:ext>
            </a:extLst>
          </p:cNvPr>
          <p:cNvPicPr>
            <a:picLocks noChangeAspect="1"/>
          </p:cNvPicPr>
          <p:nvPr/>
        </p:nvPicPr>
        <p:blipFill>
          <a:blip r:embed="rId3"/>
          <a:srcRect/>
          <a:stretch/>
        </p:blipFill>
        <p:spPr>
          <a:xfrm>
            <a:off x="2843205" y="4302133"/>
            <a:ext cx="5699760" cy="1874830"/>
          </a:xfrm>
          <a:prstGeom prst="rect">
            <a:avLst/>
          </a:prstGeom>
        </p:spPr>
      </p:pic>
    </p:spTree>
    <p:extLst>
      <p:ext uri="{BB962C8B-B14F-4D97-AF65-F5344CB8AC3E}">
        <p14:creationId xmlns:p14="http://schemas.microsoft.com/office/powerpoint/2010/main" val="1721511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98EC8-2FFA-9C59-2BC4-8D68039EEE7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A43BF71-939E-31EF-6C8E-8F0A7FF50796}"/>
              </a:ext>
            </a:extLst>
          </p:cNvPr>
          <p:cNvSpPr>
            <a:spLocks noGrp="1"/>
          </p:cNvSpPr>
          <p:nvPr>
            <p:ph type="body" idx="1"/>
          </p:nvPr>
        </p:nvSpPr>
        <p:spPr>
          <a:xfrm>
            <a:off x="838200" y="681038"/>
            <a:ext cx="10515600" cy="5495926"/>
          </a:xfrm>
        </p:spPr>
        <p:txBody>
          <a:bodyPr/>
          <a:lstStyle/>
          <a:p>
            <a:pPr marL="114300" indent="0">
              <a:buNone/>
            </a:pPr>
            <a:r>
              <a:rPr lang="en-IN" sz="2400" dirty="0">
                <a:latin typeface="+mj-lt"/>
              </a:rPr>
              <a:t>3.</a:t>
            </a:r>
            <a:r>
              <a:rPr lang="en-US" sz="2400" dirty="0">
                <a:latin typeface="+mj-lt"/>
              </a:rPr>
              <a:t> What is the average salary per department?</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6B4D9C5C-5C8A-0E47-F07D-41FCE8A16FA4}"/>
              </a:ext>
            </a:extLst>
          </p:cNvPr>
          <p:cNvPicPr>
            <a:picLocks noChangeAspect="1"/>
          </p:cNvPicPr>
          <p:nvPr/>
        </p:nvPicPr>
        <p:blipFill>
          <a:blip r:embed="rId2"/>
          <a:srcRect/>
          <a:stretch/>
        </p:blipFill>
        <p:spPr>
          <a:xfrm>
            <a:off x="2996913" y="1362456"/>
            <a:ext cx="4318287" cy="1678375"/>
          </a:xfrm>
          <a:prstGeom prst="rect">
            <a:avLst/>
          </a:prstGeom>
        </p:spPr>
      </p:pic>
      <p:pic>
        <p:nvPicPr>
          <p:cNvPr id="9" name="Picture 8">
            <a:extLst>
              <a:ext uri="{FF2B5EF4-FFF2-40B4-BE49-F238E27FC236}">
                <a16:creationId xmlns:a16="http://schemas.microsoft.com/office/drawing/2014/main" id="{F970FDA5-9601-01EC-2F3D-D44FFF19145E}"/>
              </a:ext>
            </a:extLst>
          </p:cNvPr>
          <p:cNvPicPr>
            <a:picLocks noChangeAspect="1"/>
          </p:cNvPicPr>
          <p:nvPr/>
        </p:nvPicPr>
        <p:blipFill>
          <a:blip r:embed="rId3"/>
          <a:srcRect/>
          <a:stretch/>
        </p:blipFill>
        <p:spPr>
          <a:xfrm>
            <a:off x="2996913" y="3817168"/>
            <a:ext cx="5417887" cy="2231779"/>
          </a:xfrm>
          <a:prstGeom prst="rect">
            <a:avLst/>
          </a:prstGeom>
        </p:spPr>
      </p:pic>
    </p:spTree>
    <p:extLst>
      <p:ext uri="{BB962C8B-B14F-4D97-AF65-F5344CB8AC3E}">
        <p14:creationId xmlns:p14="http://schemas.microsoft.com/office/powerpoint/2010/main" val="2581215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5AE01-6D19-C29B-7633-0A2CC805E78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AA2BF6-DB06-68E1-798C-A622B998D0B5}"/>
              </a:ext>
            </a:extLst>
          </p:cNvPr>
          <p:cNvSpPr>
            <a:spLocks noGrp="1"/>
          </p:cNvSpPr>
          <p:nvPr>
            <p:ph type="body" idx="1"/>
          </p:nvPr>
        </p:nvSpPr>
        <p:spPr>
          <a:xfrm>
            <a:off x="838200" y="384048"/>
            <a:ext cx="10515600" cy="5792916"/>
          </a:xfrm>
        </p:spPr>
        <p:txBody>
          <a:bodyPr/>
          <a:lstStyle/>
          <a:p>
            <a:pPr marL="114300" indent="0">
              <a:buNone/>
            </a:pPr>
            <a:r>
              <a:rPr lang="en-IN" sz="2400" dirty="0">
                <a:latin typeface="+mj-lt"/>
              </a:rPr>
              <a:t>4. </a:t>
            </a:r>
            <a:r>
              <a:rPr lang="en-US" sz="2400" dirty="0">
                <a:latin typeface="+mj-lt"/>
              </a:rPr>
              <a:t>Who are the top 5 highest-paid employees?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326D3072-C623-3891-236E-1C0964EF2C87}"/>
              </a:ext>
            </a:extLst>
          </p:cNvPr>
          <p:cNvPicPr>
            <a:picLocks noChangeAspect="1"/>
          </p:cNvPicPr>
          <p:nvPr/>
        </p:nvPicPr>
        <p:blipFill>
          <a:blip r:embed="rId2"/>
          <a:srcRect/>
          <a:stretch/>
        </p:blipFill>
        <p:spPr>
          <a:xfrm>
            <a:off x="2788920" y="1399032"/>
            <a:ext cx="5513832" cy="1513784"/>
          </a:xfrm>
          <a:prstGeom prst="rect">
            <a:avLst/>
          </a:prstGeom>
        </p:spPr>
      </p:pic>
      <p:pic>
        <p:nvPicPr>
          <p:cNvPr id="9" name="Picture 8">
            <a:extLst>
              <a:ext uri="{FF2B5EF4-FFF2-40B4-BE49-F238E27FC236}">
                <a16:creationId xmlns:a16="http://schemas.microsoft.com/office/drawing/2014/main" id="{C7E413D3-3395-9567-E3FF-2D5DE99447A6}"/>
              </a:ext>
            </a:extLst>
          </p:cNvPr>
          <p:cNvPicPr>
            <a:picLocks noChangeAspect="1"/>
          </p:cNvPicPr>
          <p:nvPr/>
        </p:nvPicPr>
        <p:blipFill>
          <a:blip r:embed="rId3"/>
          <a:srcRect/>
          <a:stretch/>
        </p:blipFill>
        <p:spPr>
          <a:xfrm>
            <a:off x="2874209" y="3945183"/>
            <a:ext cx="5004928" cy="2231779"/>
          </a:xfrm>
          <a:prstGeom prst="rect">
            <a:avLst/>
          </a:prstGeom>
        </p:spPr>
      </p:pic>
    </p:spTree>
    <p:extLst>
      <p:ext uri="{BB962C8B-B14F-4D97-AF65-F5344CB8AC3E}">
        <p14:creationId xmlns:p14="http://schemas.microsoft.com/office/powerpoint/2010/main" val="1396567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D26EC-CE3F-21A4-4A72-B169B635930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D3BC03F-36D9-6F07-4EE0-50BF9DC15474}"/>
              </a:ext>
            </a:extLst>
          </p:cNvPr>
          <p:cNvSpPr>
            <a:spLocks noGrp="1"/>
          </p:cNvSpPr>
          <p:nvPr>
            <p:ph type="body" idx="1"/>
          </p:nvPr>
        </p:nvSpPr>
        <p:spPr>
          <a:xfrm>
            <a:off x="838200" y="576072"/>
            <a:ext cx="10515600" cy="5600891"/>
          </a:xfrm>
        </p:spPr>
        <p:txBody>
          <a:bodyPr/>
          <a:lstStyle/>
          <a:p>
            <a:pPr marL="114300" indent="0">
              <a:buNone/>
            </a:pPr>
            <a:r>
              <a:rPr lang="en-IN" sz="2400" dirty="0">
                <a:latin typeface="+mj-lt"/>
              </a:rPr>
              <a:t>5. </a:t>
            </a:r>
            <a:r>
              <a:rPr lang="en-US" sz="2400" dirty="0">
                <a:latin typeface="+mj-lt"/>
              </a:rPr>
              <a:t>What is the total salary expenditure across the company?</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93F27923-A3FF-0D40-1FFD-97888D0F7159}"/>
              </a:ext>
            </a:extLst>
          </p:cNvPr>
          <p:cNvPicPr>
            <a:picLocks noChangeAspect="1"/>
          </p:cNvPicPr>
          <p:nvPr/>
        </p:nvPicPr>
        <p:blipFill>
          <a:blip r:embed="rId2"/>
          <a:srcRect/>
          <a:stretch/>
        </p:blipFill>
        <p:spPr>
          <a:xfrm>
            <a:off x="2686664" y="1307593"/>
            <a:ext cx="4867954" cy="1188720"/>
          </a:xfrm>
          <a:prstGeom prst="rect">
            <a:avLst/>
          </a:prstGeom>
        </p:spPr>
      </p:pic>
      <p:pic>
        <p:nvPicPr>
          <p:cNvPr id="9" name="Picture 8">
            <a:extLst>
              <a:ext uri="{FF2B5EF4-FFF2-40B4-BE49-F238E27FC236}">
                <a16:creationId xmlns:a16="http://schemas.microsoft.com/office/drawing/2014/main" id="{09752E6E-58C5-E84E-DE9E-39D8491E9E1D}"/>
              </a:ext>
            </a:extLst>
          </p:cNvPr>
          <p:cNvPicPr>
            <a:picLocks noChangeAspect="1"/>
          </p:cNvPicPr>
          <p:nvPr/>
        </p:nvPicPr>
        <p:blipFill>
          <a:blip r:embed="rId3"/>
          <a:srcRect/>
          <a:stretch/>
        </p:blipFill>
        <p:spPr>
          <a:xfrm>
            <a:off x="2791969" y="4279392"/>
            <a:ext cx="5364479" cy="1271015"/>
          </a:xfrm>
          <a:prstGeom prst="rect">
            <a:avLst/>
          </a:prstGeom>
        </p:spPr>
      </p:pic>
    </p:spTree>
    <p:extLst>
      <p:ext uri="{BB962C8B-B14F-4D97-AF65-F5344CB8AC3E}">
        <p14:creationId xmlns:p14="http://schemas.microsoft.com/office/powerpoint/2010/main" val="653764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F0450-8343-083E-ECC3-C5286112F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59071-B3E6-8577-8DE6-9DE0D0371F40}"/>
              </a:ext>
            </a:extLst>
          </p:cNvPr>
          <p:cNvSpPr>
            <a:spLocks noGrp="1"/>
          </p:cNvSpPr>
          <p:nvPr>
            <p:ph type="title"/>
          </p:nvPr>
        </p:nvSpPr>
        <p:spPr>
          <a:xfrm>
            <a:off x="838200" y="365125"/>
            <a:ext cx="10515600" cy="878459"/>
          </a:xfrm>
        </p:spPr>
        <p:txBody>
          <a:bodyPr>
            <a:normAutofit/>
          </a:bodyPr>
          <a:lstStyle/>
          <a:p>
            <a:r>
              <a:rPr lang="en-US" sz="3200" b="1" dirty="0">
                <a:solidFill>
                  <a:srgbClr val="FF0000"/>
                </a:solidFill>
                <a:latin typeface="+mn-lt"/>
              </a:rPr>
              <a:t>JOB ROLE AND DEPARTMENT ANALYSIS</a:t>
            </a:r>
            <a:endParaRPr lang="en-IN" sz="3200" b="1" dirty="0">
              <a:solidFill>
                <a:srgbClr val="FF0000"/>
              </a:solidFill>
              <a:latin typeface="+mn-lt"/>
            </a:endParaRPr>
          </a:p>
        </p:txBody>
      </p:sp>
      <p:sp>
        <p:nvSpPr>
          <p:cNvPr id="3" name="Text Placeholder 2">
            <a:extLst>
              <a:ext uri="{FF2B5EF4-FFF2-40B4-BE49-F238E27FC236}">
                <a16:creationId xmlns:a16="http://schemas.microsoft.com/office/drawing/2014/main" id="{75307648-0D5A-0A1A-FCBE-8D8E147A771E}"/>
              </a:ext>
            </a:extLst>
          </p:cNvPr>
          <p:cNvSpPr>
            <a:spLocks noGrp="1"/>
          </p:cNvSpPr>
          <p:nvPr>
            <p:ph type="body" idx="1"/>
          </p:nvPr>
        </p:nvSpPr>
        <p:spPr>
          <a:xfrm>
            <a:off x="838200" y="1243584"/>
            <a:ext cx="10515600" cy="4933379"/>
          </a:xfrm>
        </p:spPr>
        <p:txBody>
          <a:bodyPr/>
          <a:lstStyle/>
          <a:p>
            <a:pPr marL="114300" indent="0">
              <a:buNone/>
            </a:pPr>
            <a:r>
              <a:rPr lang="en-IN" sz="2400" dirty="0">
                <a:latin typeface="+mj-lt"/>
              </a:rPr>
              <a:t>1. </a:t>
            </a:r>
            <a:r>
              <a:rPr lang="en-US" sz="2400" dirty="0">
                <a:latin typeface="+mj-lt"/>
              </a:rPr>
              <a:t>How many different job roles exist in each department?</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3F2BD143-CC78-2A1E-E288-F9B07416C085}"/>
              </a:ext>
            </a:extLst>
          </p:cNvPr>
          <p:cNvPicPr>
            <a:picLocks noChangeAspect="1"/>
          </p:cNvPicPr>
          <p:nvPr/>
        </p:nvPicPr>
        <p:blipFill>
          <a:blip r:embed="rId2"/>
          <a:srcRect/>
          <a:stretch/>
        </p:blipFill>
        <p:spPr>
          <a:xfrm>
            <a:off x="2967121" y="2105971"/>
            <a:ext cx="4336359" cy="1201110"/>
          </a:xfrm>
          <a:prstGeom prst="rect">
            <a:avLst/>
          </a:prstGeom>
        </p:spPr>
      </p:pic>
      <p:pic>
        <p:nvPicPr>
          <p:cNvPr id="9" name="Picture 8">
            <a:extLst>
              <a:ext uri="{FF2B5EF4-FFF2-40B4-BE49-F238E27FC236}">
                <a16:creationId xmlns:a16="http://schemas.microsoft.com/office/drawing/2014/main" id="{0C61A09C-5AE8-2D7B-3892-8455D3E2DF16}"/>
              </a:ext>
            </a:extLst>
          </p:cNvPr>
          <p:cNvPicPr>
            <a:picLocks noChangeAspect="1"/>
          </p:cNvPicPr>
          <p:nvPr/>
        </p:nvPicPr>
        <p:blipFill>
          <a:blip r:embed="rId3"/>
          <a:srcRect/>
          <a:stretch/>
        </p:blipFill>
        <p:spPr>
          <a:xfrm>
            <a:off x="3058561" y="4137208"/>
            <a:ext cx="2669382" cy="2231779"/>
          </a:xfrm>
          <a:prstGeom prst="rect">
            <a:avLst/>
          </a:prstGeom>
        </p:spPr>
      </p:pic>
    </p:spTree>
    <p:extLst>
      <p:ext uri="{BB962C8B-B14F-4D97-AF65-F5344CB8AC3E}">
        <p14:creationId xmlns:p14="http://schemas.microsoft.com/office/powerpoint/2010/main" val="1624980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EA01E-E891-5D58-7310-DC046219851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CC77CA4-8686-B3A1-3CBB-F9E5DE3FA27A}"/>
              </a:ext>
            </a:extLst>
          </p:cNvPr>
          <p:cNvSpPr>
            <a:spLocks noGrp="1"/>
          </p:cNvSpPr>
          <p:nvPr>
            <p:ph type="body" idx="1"/>
          </p:nvPr>
        </p:nvSpPr>
        <p:spPr>
          <a:xfrm>
            <a:off x="838200" y="411480"/>
            <a:ext cx="10515600" cy="5765483"/>
          </a:xfrm>
        </p:spPr>
        <p:txBody>
          <a:bodyPr/>
          <a:lstStyle/>
          <a:p>
            <a:pPr marL="114300" indent="0">
              <a:buNone/>
            </a:pPr>
            <a:r>
              <a:rPr lang="en-IN" sz="2400" dirty="0">
                <a:latin typeface="+mj-lt"/>
              </a:rPr>
              <a:t>2. </a:t>
            </a:r>
            <a:r>
              <a:rPr lang="en-US" sz="2400" dirty="0">
                <a:latin typeface="+mj-lt"/>
              </a:rPr>
              <a:t>What is the average salary range per department?</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13BAB410-81E2-F5F3-9707-752D642C37D8}"/>
              </a:ext>
            </a:extLst>
          </p:cNvPr>
          <p:cNvPicPr>
            <a:picLocks noChangeAspect="1"/>
          </p:cNvPicPr>
          <p:nvPr/>
        </p:nvPicPr>
        <p:blipFill>
          <a:blip r:embed="rId2"/>
          <a:srcRect/>
          <a:stretch/>
        </p:blipFill>
        <p:spPr>
          <a:xfrm>
            <a:off x="3008376" y="1188720"/>
            <a:ext cx="4526280" cy="1527048"/>
          </a:xfrm>
          <a:prstGeom prst="rect">
            <a:avLst/>
          </a:prstGeom>
        </p:spPr>
      </p:pic>
      <p:pic>
        <p:nvPicPr>
          <p:cNvPr id="9" name="Picture 8">
            <a:extLst>
              <a:ext uri="{FF2B5EF4-FFF2-40B4-BE49-F238E27FC236}">
                <a16:creationId xmlns:a16="http://schemas.microsoft.com/office/drawing/2014/main" id="{C4A67C1A-EE5A-8C80-EFF6-94507AD289A2}"/>
              </a:ext>
            </a:extLst>
          </p:cNvPr>
          <p:cNvPicPr>
            <a:picLocks noChangeAspect="1"/>
          </p:cNvPicPr>
          <p:nvPr/>
        </p:nvPicPr>
        <p:blipFill>
          <a:blip r:embed="rId3"/>
          <a:srcRect/>
          <a:stretch/>
        </p:blipFill>
        <p:spPr>
          <a:xfrm>
            <a:off x="3362145" y="3693980"/>
            <a:ext cx="2639167" cy="2231779"/>
          </a:xfrm>
          <a:prstGeom prst="rect">
            <a:avLst/>
          </a:prstGeom>
        </p:spPr>
      </p:pic>
    </p:spTree>
    <p:extLst>
      <p:ext uri="{BB962C8B-B14F-4D97-AF65-F5344CB8AC3E}">
        <p14:creationId xmlns:p14="http://schemas.microsoft.com/office/powerpoint/2010/main" val="2674739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A01DF-9B1F-B251-1CC0-6DEED5A2BE4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E33F1DD-4454-B5CB-5477-39E785F30FEC}"/>
              </a:ext>
            </a:extLst>
          </p:cNvPr>
          <p:cNvSpPr>
            <a:spLocks noGrp="1"/>
          </p:cNvSpPr>
          <p:nvPr>
            <p:ph type="body" idx="1"/>
          </p:nvPr>
        </p:nvSpPr>
        <p:spPr>
          <a:xfrm>
            <a:off x="838200" y="681038"/>
            <a:ext cx="10515600" cy="5495926"/>
          </a:xfrm>
        </p:spPr>
        <p:txBody>
          <a:bodyPr/>
          <a:lstStyle/>
          <a:p>
            <a:pPr marL="114300" indent="0">
              <a:buNone/>
            </a:pPr>
            <a:r>
              <a:rPr lang="en-IN" sz="2400" dirty="0">
                <a:latin typeface="+mj-lt"/>
              </a:rPr>
              <a:t>3. </a:t>
            </a:r>
            <a:r>
              <a:rPr lang="en-US" sz="2400" dirty="0">
                <a:latin typeface="+mj-lt"/>
              </a:rPr>
              <a:t>Which job roles offer the highest salary?</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F718474D-F6F2-C564-AB47-6033A80EDAC1}"/>
              </a:ext>
            </a:extLst>
          </p:cNvPr>
          <p:cNvPicPr>
            <a:picLocks noChangeAspect="1"/>
          </p:cNvPicPr>
          <p:nvPr/>
        </p:nvPicPr>
        <p:blipFill>
          <a:blip r:embed="rId2"/>
          <a:srcRect/>
          <a:stretch/>
        </p:blipFill>
        <p:spPr>
          <a:xfrm>
            <a:off x="3041795" y="1344168"/>
            <a:ext cx="4364845" cy="1563624"/>
          </a:xfrm>
          <a:prstGeom prst="rect">
            <a:avLst/>
          </a:prstGeom>
        </p:spPr>
      </p:pic>
      <p:pic>
        <p:nvPicPr>
          <p:cNvPr id="9" name="Picture 8">
            <a:extLst>
              <a:ext uri="{FF2B5EF4-FFF2-40B4-BE49-F238E27FC236}">
                <a16:creationId xmlns:a16="http://schemas.microsoft.com/office/drawing/2014/main" id="{D675BC0E-ED09-032E-127A-DFD8A82ACC3E}"/>
              </a:ext>
            </a:extLst>
          </p:cNvPr>
          <p:cNvPicPr>
            <a:picLocks noChangeAspect="1"/>
          </p:cNvPicPr>
          <p:nvPr/>
        </p:nvPicPr>
        <p:blipFill>
          <a:blip r:embed="rId3"/>
          <a:srcRect/>
          <a:stretch/>
        </p:blipFill>
        <p:spPr>
          <a:xfrm>
            <a:off x="3041795" y="4108705"/>
            <a:ext cx="4688585" cy="1743456"/>
          </a:xfrm>
          <a:prstGeom prst="rect">
            <a:avLst/>
          </a:prstGeom>
        </p:spPr>
      </p:pic>
    </p:spTree>
    <p:extLst>
      <p:ext uri="{BB962C8B-B14F-4D97-AF65-F5344CB8AC3E}">
        <p14:creationId xmlns:p14="http://schemas.microsoft.com/office/powerpoint/2010/main" val="1879067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37C72-B086-19F4-ECB2-5CBD715CF22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105915-AA06-D70D-EE08-649DC82CB8F0}"/>
              </a:ext>
            </a:extLst>
          </p:cNvPr>
          <p:cNvSpPr>
            <a:spLocks noGrp="1"/>
          </p:cNvSpPr>
          <p:nvPr>
            <p:ph type="body" idx="1"/>
          </p:nvPr>
        </p:nvSpPr>
        <p:spPr>
          <a:xfrm>
            <a:off x="838200" y="681038"/>
            <a:ext cx="10515600" cy="5495926"/>
          </a:xfrm>
        </p:spPr>
        <p:txBody>
          <a:bodyPr/>
          <a:lstStyle/>
          <a:p>
            <a:pPr marL="114300" indent="0">
              <a:buNone/>
            </a:pPr>
            <a:r>
              <a:rPr lang="en-IN" sz="2400" dirty="0">
                <a:latin typeface="+mj-lt"/>
              </a:rPr>
              <a:t>4. </a:t>
            </a:r>
            <a:r>
              <a:rPr lang="en-US" sz="2400" dirty="0">
                <a:latin typeface="+mj-lt"/>
              </a:rPr>
              <a:t>Which departments have the highest total salary allocation?</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480D9728-3AFA-B93B-8B03-D693E9F4E746}"/>
              </a:ext>
            </a:extLst>
          </p:cNvPr>
          <p:cNvPicPr>
            <a:picLocks noChangeAspect="1"/>
          </p:cNvPicPr>
          <p:nvPr/>
        </p:nvPicPr>
        <p:blipFill>
          <a:blip r:embed="rId2"/>
          <a:srcRect/>
          <a:stretch/>
        </p:blipFill>
        <p:spPr>
          <a:xfrm>
            <a:off x="2724912" y="1438458"/>
            <a:ext cx="5349240" cy="1432757"/>
          </a:xfrm>
          <a:prstGeom prst="rect">
            <a:avLst/>
          </a:prstGeom>
        </p:spPr>
      </p:pic>
      <p:pic>
        <p:nvPicPr>
          <p:cNvPr id="9" name="Picture 8">
            <a:extLst>
              <a:ext uri="{FF2B5EF4-FFF2-40B4-BE49-F238E27FC236}">
                <a16:creationId xmlns:a16="http://schemas.microsoft.com/office/drawing/2014/main" id="{936946DA-5338-2C0D-5B1E-0D09069E74E2}"/>
              </a:ext>
            </a:extLst>
          </p:cNvPr>
          <p:cNvPicPr>
            <a:picLocks noChangeAspect="1"/>
          </p:cNvPicPr>
          <p:nvPr/>
        </p:nvPicPr>
        <p:blipFill>
          <a:blip r:embed="rId3"/>
          <a:srcRect/>
          <a:stretch/>
        </p:blipFill>
        <p:spPr>
          <a:xfrm>
            <a:off x="3436913" y="3808024"/>
            <a:ext cx="3184576" cy="2231779"/>
          </a:xfrm>
          <a:prstGeom prst="rect">
            <a:avLst/>
          </a:prstGeom>
        </p:spPr>
      </p:pic>
    </p:spTree>
    <p:extLst>
      <p:ext uri="{BB962C8B-B14F-4D97-AF65-F5344CB8AC3E}">
        <p14:creationId xmlns:p14="http://schemas.microsoft.com/office/powerpoint/2010/main" val="3286274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67E20-4DF5-62D3-E059-5681DC6B3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9EE30-FA5C-AF1F-DED5-43F23F77D885}"/>
              </a:ext>
            </a:extLst>
          </p:cNvPr>
          <p:cNvSpPr>
            <a:spLocks noGrp="1"/>
          </p:cNvSpPr>
          <p:nvPr>
            <p:ph type="title"/>
          </p:nvPr>
        </p:nvSpPr>
        <p:spPr>
          <a:xfrm>
            <a:off x="838200" y="-329184"/>
            <a:ext cx="10515600" cy="2048255"/>
          </a:xfrm>
        </p:spPr>
        <p:txBody>
          <a:bodyPr>
            <a:normAutofit/>
          </a:bodyPr>
          <a:lstStyle/>
          <a:p>
            <a:r>
              <a:rPr lang="en-IN" sz="3200" b="1" dirty="0">
                <a:solidFill>
                  <a:srgbClr val="FF0000"/>
                </a:solidFill>
                <a:latin typeface="+mn-lt"/>
              </a:rPr>
              <a:t>QUALIFICATION AND SKILLS ANALYSIS</a:t>
            </a:r>
          </a:p>
        </p:txBody>
      </p:sp>
      <p:sp>
        <p:nvSpPr>
          <p:cNvPr id="3" name="Text Placeholder 2">
            <a:extLst>
              <a:ext uri="{FF2B5EF4-FFF2-40B4-BE49-F238E27FC236}">
                <a16:creationId xmlns:a16="http://schemas.microsoft.com/office/drawing/2014/main" id="{A6197499-AE6D-40BD-BCB0-6866B5C84F77}"/>
              </a:ext>
            </a:extLst>
          </p:cNvPr>
          <p:cNvSpPr>
            <a:spLocks noGrp="1"/>
          </p:cNvSpPr>
          <p:nvPr>
            <p:ph type="body" idx="1"/>
          </p:nvPr>
        </p:nvSpPr>
        <p:spPr>
          <a:xfrm>
            <a:off x="838200" y="1152144"/>
            <a:ext cx="10515600" cy="5024819"/>
          </a:xfrm>
        </p:spPr>
        <p:txBody>
          <a:bodyPr/>
          <a:lstStyle/>
          <a:p>
            <a:pPr marL="114300" indent="0">
              <a:buNone/>
            </a:pPr>
            <a:r>
              <a:rPr lang="en-IN" sz="2400" dirty="0">
                <a:latin typeface="+mj-lt"/>
              </a:rPr>
              <a:t>1. </a:t>
            </a:r>
            <a:r>
              <a:rPr lang="en-US" sz="2400" dirty="0">
                <a:latin typeface="+mj-lt"/>
              </a:rPr>
              <a:t>How many employees have at least one qualification listed?</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D0659752-8442-1C12-3E54-28DC46AA6AB0}"/>
              </a:ext>
            </a:extLst>
          </p:cNvPr>
          <p:cNvPicPr>
            <a:picLocks noChangeAspect="1"/>
          </p:cNvPicPr>
          <p:nvPr/>
        </p:nvPicPr>
        <p:blipFill>
          <a:blip r:embed="rId2"/>
          <a:srcRect/>
          <a:stretch/>
        </p:blipFill>
        <p:spPr>
          <a:xfrm>
            <a:off x="2478024" y="1912721"/>
            <a:ext cx="5565648" cy="1207008"/>
          </a:xfrm>
          <a:prstGeom prst="rect">
            <a:avLst/>
          </a:prstGeom>
        </p:spPr>
      </p:pic>
      <p:pic>
        <p:nvPicPr>
          <p:cNvPr id="9" name="Picture 8">
            <a:extLst>
              <a:ext uri="{FF2B5EF4-FFF2-40B4-BE49-F238E27FC236}">
                <a16:creationId xmlns:a16="http://schemas.microsoft.com/office/drawing/2014/main" id="{0FE10311-DDD2-E5E2-9254-23BCC8A2FEB0}"/>
              </a:ext>
            </a:extLst>
          </p:cNvPr>
          <p:cNvPicPr>
            <a:picLocks noChangeAspect="1"/>
          </p:cNvPicPr>
          <p:nvPr/>
        </p:nvPicPr>
        <p:blipFill>
          <a:blip r:embed="rId3"/>
          <a:srcRect/>
          <a:stretch/>
        </p:blipFill>
        <p:spPr>
          <a:xfrm>
            <a:off x="2871215" y="4341775"/>
            <a:ext cx="5099305" cy="1053185"/>
          </a:xfrm>
          <a:prstGeom prst="rect">
            <a:avLst/>
          </a:prstGeom>
        </p:spPr>
      </p:pic>
    </p:spTree>
    <p:extLst>
      <p:ext uri="{BB962C8B-B14F-4D97-AF65-F5344CB8AC3E}">
        <p14:creationId xmlns:p14="http://schemas.microsoft.com/office/powerpoint/2010/main" val="452064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F500A-D810-0F14-FB4D-B06E0204485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2C6980C-DC34-14B1-8247-834CFA9EA94B}"/>
              </a:ext>
            </a:extLst>
          </p:cNvPr>
          <p:cNvSpPr>
            <a:spLocks noGrp="1"/>
          </p:cNvSpPr>
          <p:nvPr>
            <p:ph type="body" idx="1"/>
          </p:nvPr>
        </p:nvSpPr>
        <p:spPr>
          <a:xfrm>
            <a:off x="838200" y="512064"/>
            <a:ext cx="10515600" cy="5664899"/>
          </a:xfrm>
        </p:spPr>
        <p:txBody>
          <a:bodyPr/>
          <a:lstStyle/>
          <a:p>
            <a:pPr marL="114300" indent="0">
              <a:buNone/>
            </a:pPr>
            <a:r>
              <a:rPr lang="en-IN" sz="2400" dirty="0">
                <a:latin typeface="+mj-lt"/>
              </a:rPr>
              <a:t>2. w</a:t>
            </a:r>
            <a:r>
              <a:rPr lang="en-US" sz="2400" dirty="0" err="1">
                <a:latin typeface="+mj-lt"/>
              </a:rPr>
              <a:t>hich</a:t>
            </a:r>
            <a:r>
              <a:rPr lang="en-US" sz="2400" dirty="0">
                <a:latin typeface="+mj-lt"/>
              </a:rPr>
              <a:t> positions require the most qualifications?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6156703D-C39D-B9E2-3DF4-C4C6DC2BA3A0}"/>
              </a:ext>
            </a:extLst>
          </p:cNvPr>
          <p:cNvPicPr>
            <a:picLocks noChangeAspect="1"/>
          </p:cNvPicPr>
          <p:nvPr/>
        </p:nvPicPr>
        <p:blipFill>
          <a:blip r:embed="rId2"/>
          <a:srcRect/>
          <a:stretch/>
        </p:blipFill>
        <p:spPr>
          <a:xfrm>
            <a:off x="2986479" y="1360076"/>
            <a:ext cx="3867911" cy="1870138"/>
          </a:xfrm>
          <a:prstGeom prst="rect">
            <a:avLst/>
          </a:prstGeom>
        </p:spPr>
      </p:pic>
      <p:pic>
        <p:nvPicPr>
          <p:cNvPr id="9" name="Picture 8">
            <a:extLst>
              <a:ext uri="{FF2B5EF4-FFF2-40B4-BE49-F238E27FC236}">
                <a16:creationId xmlns:a16="http://schemas.microsoft.com/office/drawing/2014/main" id="{DDA479DC-0F70-1418-E0DD-86192A963ACC}"/>
              </a:ext>
            </a:extLst>
          </p:cNvPr>
          <p:cNvPicPr>
            <a:picLocks noChangeAspect="1"/>
          </p:cNvPicPr>
          <p:nvPr/>
        </p:nvPicPr>
        <p:blipFill>
          <a:blip r:embed="rId3"/>
          <a:srcRect/>
          <a:stretch/>
        </p:blipFill>
        <p:spPr>
          <a:xfrm>
            <a:off x="2986479" y="4078225"/>
            <a:ext cx="4304899" cy="1870138"/>
          </a:xfrm>
          <a:prstGeom prst="rect">
            <a:avLst/>
          </a:prstGeom>
        </p:spPr>
      </p:pic>
    </p:spTree>
    <p:extLst>
      <p:ext uri="{BB962C8B-B14F-4D97-AF65-F5344CB8AC3E}">
        <p14:creationId xmlns:p14="http://schemas.microsoft.com/office/powerpoint/2010/main" val="2150556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6C46-FB5C-87B3-B791-D5E268BB6FC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2A0171E-1726-F99B-3DBB-CE0835780B9D}"/>
              </a:ext>
            </a:extLst>
          </p:cNvPr>
          <p:cNvSpPr>
            <a:spLocks noGrp="1"/>
          </p:cNvSpPr>
          <p:nvPr>
            <p:ph type="body" idx="1"/>
          </p:nvPr>
        </p:nvSpPr>
        <p:spPr>
          <a:xfrm>
            <a:off x="838200" y="585216"/>
            <a:ext cx="10515600" cy="5591747"/>
          </a:xfrm>
        </p:spPr>
        <p:txBody>
          <a:bodyPr/>
          <a:lstStyle/>
          <a:p>
            <a:pPr marL="114300" indent="0">
              <a:buNone/>
            </a:pPr>
            <a:r>
              <a:rPr lang="en-IN" sz="2400" dirty="0">
                <a:latin typeface="+mj-lt"/>
              </a:rPr>
              <a:t>3. </a:t>
            </a:r>
            <a:r>
              <a:rPr lang="en-US" sz="2400" dirty="0">
                <a:latin typeface="+mj-lt"/>
              </a:rPr>
              <a:t>Which employees have the highest number of qualifications?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04656FF8-4C9C-0E2F-0608-65CC15595FE5}"/>
              </a:ext>
            </a:extLst>
          </p:cNvPr>
          <p:cNvPicPr>
            <a:picLocks noChangeAspect="1"/>
          </p:cNvPicPr>
          <p:nvPr/>
        </p:nvPicPr>
        <p:blipFill>
          <a:blip r:embed="rId2"/>
          <a:srcRect/>
          <a:stretch/>
        </p:blipFill>
        <p:spPr>
          <a:xfrm>
            <a:off x="3072385" y="1371600"/>
            <a:ext cx="4160520" cy="1669232"/>
          </a:xfrm>
          <a:prstGeom prst="rect">
            <a:avLst/>
          </a:prstGeom>
        </p:spPr>
      </p:pic>
      <p:pic>
        <p:nvPicPr>
          <p:cNvPr id="9" name="Picture 8">
            <a:extLst>
              <a:ext uri="{FF2B5EF4-FFF2-40B4-BE49-F238E27FC236}">
                <a16:creationId xmlns:a16="http://schemas.microsoft.com/office/drawing/2014/main" id="{8441CB67-052C-8B5A-DD36-E28B3ADAFCB1}"/>
              </a:ext>
            </a:extLst>
          </p:cNvPr>
          <p:cNvPicPr>
            <a:picLocks noChangeAspect="1"/>
          </p:cNvPicPr>
          <p:nvPr/>
        </p:nvPicPr>
        <p:blipFill>
          <a:blip r:embed="rId3"/>
          <a:srcRect/>
          <a:stretch/>
        </p:blipFill>
        <p:spPr>
          <a:xfrm>
            <a:off x="3235382" y="4041005"/>
            <a:ext cx="3642501" cy="2231779"/>
          </a:xfrm>
          <a:prstGeom prst="rect">
            <a:avLst/>
          </a:prstGeom>
        </p:spPr>
      </p:pic>
    </p:spTree>
    <p:extLst>
      <p:ext uri="{BB962C8B-B14F-4D97-AF65-F5344CB8AC3E}">
        <p14:creationId xmlns:p14="http://schemas.microsoft.com/office/powerpoint/2010/main" val="3354683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48097-A7B1-EEC2-9B21-B32BC2CBE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997F5-7D8F-CA7F-636C-72EA3F639FB5}"/>
              </a:ext>
            </a:extLst>
          </p:cNvPr>
          <p:cNvSpPr>
            <a:spLocks noGrp="1"/>
          </p:cNvSpPr>
          <p:nvPr>
            <p:ph type="title"/>
          </p:nvPr>
        </p:nvSpPr>
        <p:spPr>
          <a:xfrm>
            <a:off x="838200" y="365125"/>
            <a:ext cx="10515600" cy="777875"/>
          </a:xfrm>
        </p:spPr>
        <p:txBody>
          <a:bodyPr>
            <a:normAutofit/>
          </a:bodyPr>
          <a:lstStyle/>
          <a:p>
            <a:r>
              <a:rPr lang="en-IN" sz="3200" b="1" dirty="0">
                <a:solidFill>
                  <a:srgbClr val="FF0000"/>
                </a:solidFill>
                <a:latin typeface="+mn-lt"/>
              </a:rPr>
              <a:t> LEAVE AND ABSENCE PATTERNS</a:t>
            </a:r>
          </a:p>
        </p:txBody>
      </p:sp>
      <p:sp>
        <p:nvSpPr>
          <p:cNvPr id="3" name="Text Placeholder 2">
            <a:extLst>
              <a:ext uri="{FF2B5EF4-FFF2-40B4-BE49-F238E27FC236}">
                <a16:creationId xmlns:a16="http://schemas.microsoft.com/office/drawing/2014/main" id="{59F59377-56B7-4171-5201-679F23265C73}"/>
              </a:ext>
            </a:extLst>
          </p:cNvPr>
          <p:cNvSpPr>
            <a:spLocks noGrp="1"/>
          </p:cNvSpPr>
          <p:nvPr>
            <p:ph type="body" idx="1"/>
          </p:nvPr>
        </p:nvSpPr>
        <p:spPr>
          <a:xfrm>
            <a:off x="838200" y="1143000"/>
            <a:ext cx="10515600" cy="5033963"/>
          </a:xfrm>
        </p:spPr>
        <p:txBody>
          <a:bodyPr/>
          <a:lstStyle/>
          <a:p>
            <a:pPr marL="114300" indent="0">
              <a:buNone/>
            </a:pPr>
            <a:r>
              <a:rPr lang="en-IN" sz="2400" dirty="0">
                <a:latin typeface="+mj-lt"/>
              </a:rPr>
              <a:t>1. </a:t>
            </a:r>
            <a:r>
              <a:rPr lang="en-US" sz="2400" dirty="0">
                <a:latin typeface="+mj-lt"/>
              </a:rPr>
              <a:t>Which year had the most employees taking leaves?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6DEB9B92-140F-336A-0844-A76F478ECF7C}"/>
              </a:ext>
            </a:extLst>
          </p:cNvPr>
          <p:cNvPicPr>
            <a:picLocks noChangeAspect="1"/>
          </p:cNvPicPr>
          <p:nvPr/>
        </p:nvPicPr>
        <p:blipFill>
          <a:blip r:embed="rId2"/>
          <a:srcRect/>
          <a:stretch/>
        </p:blipFill>
        <p:spPr>
          <a:xfrm>
            <a:off x="2270761" y="1920875"/>
            <a:ext cx="4877961" cy="1487621"/>
          </a:xfrm>
          <a:prstGeom prst="rect">
            <a:avLst/>
          </a:prstGeom>
        </p:spPr>
      </p:pic>
      <p:pic>
        <p:nvPicPr>
          <p:cNvPr id="9" name="Picture 8">
            <a:extLst>
              <a:ext uri="{FF2B5EF4-FFF2-40B4-BE49-F238E27FC236}">
                <a16:creationId xmlns:a16="http://schemas.microsoft.com/office/drawing/2014/main" id="{3EEA301D-FE6C-7127-65FE-983D02507789}"/>
              </a:ext>
            </a:extLst>
          </p:cNvPr>
          <p:cNvPicPr>
            <a:picLocks noChangeAspect="1"/>
          </p:cNvPicPr>
          <p:nvPr/>
        </p:nvPicPr>
        <p:blipFill>
          <a:blip r:embed="rId3"/>
          <a:srcRect/>
          <a:stretch/>
        </p:blipFill>
        <p:spPr>
          <a:xfrm>
            <a:off x="2270761" y="4581549"/>
            <a:ext cx="4989577" cy="1324808"/>
          </a:xfrm>
          <a:prstGeom prst="rect">
            <a:avLst/>
          </a:prstGeom>
        </p:spPr>
      </p:pic>
    </p:spTree>
    <p:extLst>
      <p:ext uri="{BB962C8B-B14F-4D97-AF65-F5344CB8AC3E}">
        <p14:creationId xmlns:p14="http://schemas.microsoft.com/office/powerpoint/2010/main" val="3352639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E9E91-F585-2626-FA59-67CC35F41E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F351539-351A-2DE5-655F-20B222CE2967}"/>
              </a:ext>
            </a:extLst>
          </p:cNvPr>
          <p:cNvSpPr>
            <a:spLocks noGrp="1"/>
          </p:cNvSpPr>
          <p:nvPr>
            <p:ph type="body" idx="1"/>
          </p:nvPr>
        </p:nvSpPr>
        <p:spPr>
          <a:xfrm>
            <a:off x="838200" y="292608"/>
            <a:ext cx="10515600" cy="5884355"/>
          </a:xfrm>
        </p:spPr>
        <p:txBody>
          <a:bodyPr/>
          <a:lstStyle/>
          <a:p>
            <a:pPr marL="114300" indent="0">
              <a:buNone/>
            </a:pPr>
            <a:r>
              <a:rPr lang="en-IN" sz="2400" dirty="0">
                <a:latin typeface="+mj-lt"/>
              </a:rPr>
              <a:t>2. </a:t>
            </a:r>
            <a:r>
              <a:rPr lang="en-US" sz="2400" dirty="0">
                <a:latin typeface="+mj-lt"/>
              </a:rPr>
              <a:t>What is the average number of leave days taken by its employees per department?</a:t>
            </a:r>
            <a:r>
              <a:rPr lang="en-IN" sz="2400" dirty="0">
                <a:latin typeface="+mj-lt"/>
              </a:rPr>
              <a:t> </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91849A13-B7AC-CABA-B8BF-02548012B2F2}"/>
              </a:ext>
            </a:extLst>
          </p:cNvPr>
          <p:cNvPicPr>
            <a:picLocks noChangeAspect="1"/>
          </p:cNvPicPr>
          <p:nvPr/>
        </p:nvPicPr>
        <p:blipFill>
          <a:blip r:embed="rId3"/>
          <a:srcRect/>
          <a:stretch/>
        </p:blipFill>
        <p:spPr>
          <a:xfrm>
            <a:off x="2505456" y="1106424"/>
            <a:ext cx="5385816" cy="2761488"/>
          </a:xfrm>
          <a:prstGeom prst="rect">
            <a:avLst/>
          </a:prstGeom>
        </p:spPr>
      </p:pic>
      <p:pic>
        <p:nvPicPr>
          <p:cNvPr id="9" name="Picture 8">
            <a:extLst>
              <a:ext uri="{FF2B5EF4-FFF2-40B4-BE49-F238E27FC236}">
                <a16:creationId xmlns:a16="http://schemas.microsoft.com/office/drawing/2014/main" id="{A4243E8C-92DF-79E4-1B1F-C27ACD65CA86}"/>
              </a:ext>
            </a:extLst>
          </p:cNvPr>
          <p:cNvPicPr>
            <a:picLocks noChangeAspect="1"/>
          </p:cNvPicPr>
          <p:nvPr/>
        </p:nvPicPr>
        <p:blipFill>
          <a:blip r:embed="rId4"/>
          <a:srcRect/>
          <a:stretch/>
        </p:blipFill>
        <p:spPr>
          <a:xfrm>
            <a:off x="3170062" y="4585716"/>
            <a:ext cx="2785590" cy="1801368"/>
          </a:xfrm>
          <a:prstGeom prst="rect">
            <a:avLst/>
          </a:prstGeom>
        </p:spPr>
      </p:pic>
    </p:spTree>
    <p:extLst>
      <p:ext uri="{BB962C8B-B14F-4D97-AF65-F5344CB8AC3E}">
        <p14:creationId xmlns:p14="http://schemas.microsoft.com/office/powerpoint/2010/main" val="2289207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7B01F-35AE-D033-31E2-7AE9A250DA6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3DB8B78-DA2F-BB06-C4A7-D74B567FBEFB}"/>
              </a:ext>
            </a:extLst>
          </p:cNvPr>
          <p:cNvSpPr>
            <a:spLocks noGrp="1"/>
          </p:cNvSpPr>
          <p:nvPr>
            <p:ph type="body" idx="1"/>
          </p:nvPr>
        </p:nvSpPr>
        <p:spPr>
          <a:xfrm>
            <a:off x="838200" y="557784"/>
            <a:ext cx="10515600" cy="5619179"/>
          </a:xfrm>
        </p:spPr>
        <p:txBody>
          <a:bodyPr/>
          <a:lstStyle/>
          <a:p>
            <a:pPr marL="114300" indent="0">
              <a:buNone/>
            </a:pPr>
            <a:r>
              <a:rPr lang="en-IN" sz="2400" dirty="0">
                <a:latin typeface="+mj-lt"/>
              </a:rPr>
              <a:t>3. </a:t>
            </a:r>
            <a:r>
              <a:rPr lang="en-US" sz="2400" dirty="0">
                <a:latin typeface="+mj-lt"/>
              </a:rPr>
              <a:t>Which employees have taken the most leaves?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3DEF7C05-F631-4F30-14AB-7CD370491967}"/>
              </a:ext>
            </a:extLst>
          </p:cNvPr>
          <p:cNvPicPr>
            <a:picLocks noChangeAspect="1"/>
          </p:cNvPicPr>
          <p:nvPr/>
        </p:nvPicPr>
        <p:blipFill>
          <a:blip r:embed="rId2"/>
          <a:srcRect/>
          <a:stretch/>
        </p:blipFill>
        <p:spPr>
          <a:xfrm>
            <a:off x="2496312" y="1364836"/>
            <a:ext cx="4754880" cy="2002537"/>
          </a:xfrm>
          <a:prstGeom prst="rect">
            <a:avLst/>
          </a:prstGeom>
        </p:spPr>
      </p:pic>
      <p:pic>
        <p:nvPicPr>
          <p:cNvPr id="9" name="Picture 8">
            <a:extLst>
              <a:ext uri="{FF2B5EF4-FFF2-40B4-BE49-F238E27FC236}">
                <a16:creationId xmlns:a16="http://schemas.microsoft.com/office/drawing/2014/main" id="{03CB5C60-C53A-7274-B53D-767549287A82}"/>
              </a:ext>
            </a:extLst>
          </p:cNvPr>
          <p:cNvPicPr>
            <a:picLocks noChangeAspect="1"/>
          </p:cNvPicPr>
          <p:nvPr/>
        </p:nvPicPr>
        <p:blipFill>
          <a:blip r:embed="rId3"/>
          <a:srcRect/>
          <a:stretch/>
        </p:blipFill>
        <p:spPr>
          <a:xfrm>
            <a:off x="2912364" y="4333995"/>
            <a:ext cx="4187952" cy="1842968"/>
          </a:xfrm>
          <a:prstGeom prst="rect">
            <a:avLst/>
          </a:prstGeom>
        </p:spPr>
      </p:pic>
    </p:spTree>
    <p:extLst>
      <p:ext uri="{BB962C8B-B14F-4D97-AF65-F5344CB8AC3E}">
        <p14:creationId xmlns:p14="http://schemas.microsoft.com/office/powerpoint/2010/main" val="2260900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D2B00-F7AA-37E5-278C-AEC08E63310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5C0853-4E19-A06A-4AF6-91D53C02BF0C}"/>
              </a:ext>
            </a:extLst>
          </p:cNvPr>
          <p:cNvSpPr>
            <a:spLocks noGrp="1"/>
          </p:cNvSpPr>
          <p:nvPr>
            <p:ph type="body" idx="1"/>
          </p:nvPr>
        </p:nvSpPr>
        <p:spPr>
          <a:xfrm>
            <a:off x="838200" y="457200"/>
            <a:ext cx="10515600" cy="5719763"/>
          </a:xfrm>
        </p:spPr>
        <p:txBody>
          <a:bodyPr/>
          <a:lstStyle/>
          <a:p>
            <a:pPr marL="114300" indent="0">
              <a:buNone/>
            </a:pPr>
            <a:r>
              <a:rPr lang="en-IN" sz="2400" dirty="0">
                <a:latin typeface="+mj-lt"/>
              </a:rPr>
              <a:t>4. </a:t>
            </a:r>
            <a:r>
              <a:rPr lang="en-US" sz="2400" dirty="0">
                <a:latin typeface="+mj-lt"/>
              </a:rPr>
              <a:t>What is the total number of leave days taken company-wide?</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B783CD85-B371-3EAB-C97F-30499FCED259}"/>
              </a:ext>
            </a:extLst>
          </p:cNvPr>
          <p:cNvPicPr>
            <a:picLocks noChangeAspect="1"/>
          </p:cNvPicPr>
          <p:nvPr/>
        </p:nvPicPr>
        <p:blipFill>
          <a:blip r:embed="rId2"/>
          <a:srcRect/>
          <a:stretch/>
        </p:blipFill>
        <p:spPr>
          <a:xfrm>
            <a:off x="2567792" y="1272157"/>
            <a:ext cx="4867954" cy="1067047"/>
          </a:xfrm>
          <a:prstGeom prst="rect">
            <a:avLst/>
          </a:prstGeom>
        </p:spPr>
      </p:pic>
      <p:pic>
        <p:nvPicPr>
          <p:cNvPr id="9" name="Picture 8">
            <a:extLst>
              <a:ext uri="{FF2B5EF4-FFF2-40B4-BE49-F238E27FC236}">
                <a16:creationId xmlns:a16="http://schemas.microsoft.com/office/drawing/2014/main" id="{F0204689-2D75-7B61-9038-95B2A2F1AEFB}"/>
              </a:ext>
            </a:extLst>
          </p:cNvPr>
          <p:cNvPicPr>
            <a:picLocks noChangeAspect="1"/>
          </p:cNvPicPr>
          <p:nvPr/>
        </p:nvPicPr>
        <p:blipFill>
          <a:blip r:embed="rId3"/>
          <a:srcRect/>
          <a:stretch/>
        </p:blipFill>
        <p:spPr>
          <a:xfrm>
            <a:off x="2816352" y="4221208"/>
            <a:ext cx="4867954" cy="1182896"/>
          </a:xfrm>
          <a:prstGeom prst="rect">
            <a:avLst/>
          </a:prstGeom>
        </p:spPr>
      </p:pic>
    </p:spTree>
    <p:extLst>
      <p:ext uri="{BB962C8B-B14F-4D97-AF65-F5344CB8AC3E}">
        <p14:creationId xmlns:p14="http://schemas.microsoft.com/office/powerpoint/2010/main" val="2928761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4181-C981-AF74-5E78-0A5E71AF203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31484ED-4107-1787-8FF7-47C3185DC8A6}"/>
              </a:ext>
            </a:extLst>
          </p:cNvPr>
          <p:cNvSpPr>
            <a:spLocks noGrp="1"/>
          </p:cNvSpPr>
          <p:nvPr>
            <p:ph type="body" idx="1"/>
          </p:nvPr>
        </p:nvSpPr>
        <p:spPr>
          <a:xfrm>
            <a:off x="838200" y="539496"/>
            <a:ext cx="10515600" cy="5637467"/>
          </a:xfrm>
        </p:spPr>
        <p:txBody>
          <a:bodyPr/>
          <a:lstStyle/>
          <a:p>
            <a:pPr marL="114300" indent="0">
              <a:buNone/>
            </a:pPr>
            <a:r>
              <a:rPr lang="en-IN" sz="2400" dirty="0">
                <a:latin typeface="+mj-lt"/>
              </a:rPr>
              <a:t>5. </a:t>
            </a:r>
            <a:r>
              <a:rPr lang="en-US" sz="2400" dirty="0">
                <a:latin typeface="+mj-lt"/>
              </a:rPr>
              <a:t>How do leave days correlate with payroll amounts?</a:t>
            </a:r>
            <a:r>
              <a:rPr lang="en-IN" sz="2400" dirty="0">
                <a:latin typeface="+mj-lt"/>
              </a:rPr>
              <a:t> </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C893AA90-2536-9E8E-7CE1-0AE664D59BC1}"/>
              </a:ext>
            </a:extLst>
          </p:cNvPr>
          <p:cNvPicPr>
            <a:picLocks noChangeAspect="1"/>
          </p:cNvPicPr>
          <p:nvPr/>
        </p:nvPicPr>
        <p:blipFill>
          <a:blip r:embed="rId2"/>
          <a:srcRect/>
          <a:stretch/>
        </p:blipFill>
        <p:spPr>
          <a:xfrm>
            <a:off x="3172968" y="1330261"/>
            <a:ext cx="4471415" cy="2098739"/>
          </a:xfrm>
          <a:prstGeom prst="rect">
            <a:avLst/>
          </a:prstGeom>
        </p:spPr>
      </p:pic>
      <p:pic>
        <p:nvPicPr>
          <p:cNvPr id="9" name="Picture 8">
            <a:extLst>
              <a:ext uri="{FF2B5EF4-FFF2-40B4-BE49-F238E27FC236}">
                <a16:creationId xmlns:a16="http://schemas.microsoft.com/office/drawing/2014/main" id="{38021140-64FF-FD67-9A8C-3E73B32AB225}"/>
              </a:ext>
            </a:extLst>
          </p:cNvPr>
          <p:cNvPicPr>
            <a:picLocks noChangeAspect="1"/>
          </p:cNvPicPr>
          <p:nvPr/>
        </p:nvPicPr>
        <p:blipFill>
          <a:blip r:embed="rId3"/>
          <a:srcRect/>
          <a:stretch/>
        </p:blipFill>
        <p:spPr>
          <a:xfrm>
            <a:off x="3265315" y="4078224"/>
            <a:ext cx="3985877" cy="2098739"/>
          </a:xfrm>
          <a:prstGeom prst="rect">
            <a:avLst/>
          </a:prstGeom>
        </p:spPr>
      </p:pic>
    </p:spTree>
    <p:extLst>
      <p:ext uri="{BB962C8B-B14F-4D97-AF65-F5344CB8AC3E}">
        <p14:creationId xmlns:p14="http://schemas.microsoft.com/office/powerpoint/2010/main" val="4048356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BF2F-824C-207E-FC4A-D269A69AD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6C488-2440-4F00-6701-F0CC72E44CFD}"/>
              </a:ext>
            </a:extLst>
          </p:cNvPr>
          <p:cNvSpPr>
            <a:spLocks noGrp="1"/>
          </p:cNvSpPr>
          <p:nvPr>
            <p:ph type="title"/>
          </p:nvPr>
        </p:nvSpPr>
        <p:spPr>
          <a:xfrm>
            <a:off x="838200" y="365125"/>
            <a:ext cx="10515600" cy="851027"/>
          </a:xfrm>
        </p:spPr>
        <p:txBody>
          <a:bodyPr>
            <a:normAutofit/>
          </a:bodyPr>
          <a:lstStyle/>
          <a:p>
            <a:r>
              <a:rPr lang="en-IN" sz="3200" b="1" dirty="0">
                <a:solidFill>
                  <a:srgbClr val="FF0000"/>
                </a:solidFill>
                <a:latin typeface="+mn-lt"/>
              </a:rPr>
              <a:t>PAYROLL AND COMPENSATION ANALYSIS</a:t>
            </a:r>
          </a:p>
        </p:txBody>
      </p:sp>
      <p:sp>
        <p:nvSpPr>
          <p:cNvPr id="3" name="Text Placeholder 2">
            <a:extLst>
              <a:ext uri="{FF2B5EF4-FFF2-40B4-BE49-F238E27FC236}">
                <a16:creationId xmlns:a16="http://schemas.microsoft.com/office/drawing/2014/main" id="{46DF36FC-3078-23F1-BCBF-5A41EB291FF1}"/>
              </a:ext>
            </a:extLst>
          </p:cNvPr>
          <p:cNvSpPr>
            <a:spLocks noGrp="1"/>
          </p:cNvSpPr>
          <p:nvPr>
            <p:ph type="body" idx="1"/>
          </p:nvPr>
        </p:nvSpPr>
        <p:spPr>
          <a:xfrm>
            <a:off x="838200" y="1356852"/>
            <a:ext cx="10515600" cy="4820111"/>
          </a:xfrm>
        </p:spPr>
        <p:txBody>
          <a:bodyPr/>
          <a:lstStyle/>
          <a:p>
            <a:pPr marL="114300" indent="0">
              <a:buNone/>
            </a:pPr>
            <a:r>
              <a:rPr lang="en-IN" sz="2400" dirty="0">
                <a:latin typeface="+mj-lt"/>
              </a:rPr>
              <a:t>1. </a:t>
            </a:r>
            <a:r>
              <a:rPr lang="en-US" sz="2400" dirty="0">
                <a:latin typeface="+mj-lt"/>
              </a:rPr>
              <a:t>What is the total monthly payroll processed?</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D1926573-4629-5CCD-3579-F656DED49EE6}"/>
              </a:ext>
            </a:extLst>
          </p:cNvPr>
          <p:cNvPicPr>
            <a:picLocks noChangeAspect="1"/>
          </p:cNvPicPr>
          <p:nvPr/>
        </p:nvPicPr>
        <p:blipFill>
          <a:blip r:embed="rId2"/>
          <a:srcRect/>
          <a:stretch/>
        </p:blipFill>
        <p:spPr>
          <a:xfrm>
            <a:off x="2701324" y="2053216"/>
            <a:ext cx="4867954" cy="1183760"/>
          </a:xfrm>
          <a:prstGeom prst="rect">
            <a:avLst/>
          </a:prstGeom>
        </p:spPr>
      </p:pic>
      <p:pic>
        <p:nvPicPr>
          <p:cNvPr id="9" name="Picture 8">
            <a:extLst>
              <a:ext uri="{FF2B5EF4-FFF2-40B4-BE49-F238E27FC236}">
                <a16:creationId xmlns:a16="http://schemas.microsoft.com/office/drawing/2014/main" id="{90511BF9-D04E-59A5-8EB3-FFD7C13AB94B}"/>
              </a:ext>
            </a:extLst>
          </p:cNvPr>
          <p:cNvPicPr>
            <a:picLocks noChangeAspect="1"/>
          </p:cNvPicPr>
          <p:nvPr/>
        </p:nvPicPr>
        <p:blipFill>
          <a:blip r:embed="rId3"/>
          <a:srcRect/>
          <a:stretch/>
        </p:blipFill>
        <p:spPr>
          <a:xfrm>
            <a:off x="2779775" y="4882896"/>
            <a:ext cx="4468369" cy="1002300"/>
          </a:xfrm>
          <a:prstGeom prst="rect">
            <a:avLst/>
          </a:prstGeom>
        </p:spPr>
      </p:pic>
    </p:spTree>
    <p:extLst>
      <p:ext uri="{BB962C8B-B14F-4D97-AF65-F5344CB8AC3E}">
        <p14:creationId xmlns:p14="http://schemas.microsoft.com/office/powerpoint/2010/main" val="3978531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D15E6-59E0-CB9D-D1BE-59CD03C96E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B505465-E735-F46A-E113-703B56231830}"/>
              </a:ext>
            </a:extLst>
          </p:cNvPr>
          <p:cNvSpPr>
            <a:spLocks noGrp="1"/>
          </p:cNvSpPr>
          <p:nvPr>
            <p:ph type="body" idx="1"/>
          </p:nvPr>
        </p:nvSpPr>
        <p:spPr>
          <a:xfrm>
            <a:off x="838200" y="548640"/>
            <a:ext cx="10515600" cy="5628323"/>
          </a:xfrm>
        </p:spPr>
        <p:txBody>
          <a:bodyPr/>
          <a:lstStyle/>
          <a:p>
            <a:pPr marL="114300" indent="0">
              <a:buNone/>
            </a:pPr>
            <a:r>
              <a:rPr lang="en-IN" sz="2400" dirty="0">
                <a:latin typeface="+mj-lt"/>
              </a:rPr>
              <a:t>2. </a:t>
            </a:r>
            <a:r>
              <a:rPr lang="en-US" sz="2400" dirty="0">
                <a:latin typeface="+mj-lt"/>
              </a:rPr>
              <a:t>What is the average bonus given per department?</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3637CF10-D142-5B59-000B-DC07D5879E78}"/>
              </a:ext>
            </a:extLst>
          </p:cNvPr>
          <p:cNvPicPr>
            <a:picLocks noChangeAspect="1"/>
          </p:cNvPicPr>
          <p:nvPr/>
        </p:nvPicPr>
        <p:blipFill>
          <a:blip r:embed="rId2"/>
          <a:srcRect/>
          <a:stretch/>
        </p:blipFill>
        <p:spPr>
          <a:xfrm>
            <a:off x="2990088" y="1261872"/>
            <a:ext cx="4736592" cy="2167128"/>
          </a:xfrm>
          <a:prstGeom prst="rect">
            <a:avLst/>
          </a:prstGeom>
        </p:spPr>
      </p:pic>
      <p:pic>
        <p:nvPicPr>
          <p:cNvPr id="9" name="Picture 8">
            <a:extLst>
              <a:ext uri="{FF2B5EF4-FFF2-40B4-BE49-F238E27FC236}">
                <a16:creationId xmlns:a16="http://schemas.microsoft.com/office/drawing/2014/main" id="{F695AA34-A836-4EBE-96E0-E20B48161B6C}"/>
              </a:ext>
            </a:extLst>
          </p:cNvPr>
          <p:cNvPicPr>
            <a:picLocks noChangeAspect="1"/>
          </p:cNvPicPr>
          <p:nvPr/>
        </p:nvPicPr>
        <p:blipFill>
          <a:blip r:embed="rId3"/>
          <a:srcRect/>
          <a:stretch/>
        </p:blipFill>
        <p:spPr>
          <a:xfrm>
            <a:off x="3108960" y="4320349"/>
            <a:ext cx="2395820" cy="1989011"/>
          </a:xfrm>
          <a:prstGeom prst="rect">
            <a:avLst/>
          </a:prstGeom>
        </p:spPr>
      </p:pic>
    </p:spTree>
    <p:extLst>
      <p:ext uri="{BB962C8B-B14F-4D97-AF65-F5344CB8AC3E}">
        <p14:creationId xmlns:p14="http://schemas.microsoft.com/office/powerpoint/2010/main" val="2841063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9DDC-EDE4-5285-64D4-645FF91C800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72A51E-9C79-DADF-ABB5-693FBF6C7702}"/>
              </a:ext>
            </a:extLst>
          </p:cNvPr>
          <p:cNvSpPr>
            <a:spLocks noGrp="1"/>
          </p:cNvSpPr>
          <p:nvPr>
            <p:ph type="body" idx="1"/>
          </p:nvPr>
        </p:nvSpPr>
        <p:spPr>
          <a:xfrm>
            <a:off x="838200" y="475488"/>
            <a:ext cx="10515600" cy="5701475"/>
          </a:xfrm>
        </p:spPr>
        <p:txBody>
          <a:bodyPr/>
          <a:lstStyle/>
          <a:p>
            <a:pPr marL="114300" indent="0">
              <a:buNone/>
            </a:pPr>
            <a:r>
              <a:rPr lang="en-IN" sz="2400" dirty="0">
                <a:latin typeface="+mj-lt"/>
              </a:rPr>
              <a:t>3. </a:t>
            </a:r>
            <a:r>
              <a:rPr lang="en-US" sz="2400" dirty="0">
                <a:latin typeface="+mj-lt"/>
              </a:rPr>
              <a:t>Which department receives the highest total bonuses?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72CAC206-DECD-AD0A-1028-991FC5C2AE65}"/>
              </a:ext>
            </a:extLst>
          </p:cNvPr>
          <p:cNvPicPr>
            <a:picLocks noChangeAspect="1"/>
          </p:cNvPicPr>
          <p:nvPr/>
        </p:nvPicPr>
        <p:blipFill>
          <a:blip r:embed="rId2"/>
          <a:srcRect/>
          <a:stretch/>
        </p:blipFill>
        <p:spPr>
          <a:xfrm>
            <a:off x="2523744" y="1243584"/>
            <a:ext cx="5065776" cy="2596896"/>
          </a:xfrm>
          <a:prstGeom prst="rect">
            <a:avLst/>
          </a:prstGeom>
        </p:spPr>
      </p:pic>
      <p:pic>
        <p:nvPicPr>
          <p:cNvPr id="9" name="Picture 8">
            <a:extLst>
              <a:ext uri="{FF2B5EF4-FFF2-40B4-BE49-F238E27FC236}">
                <a16:creationId xmlns:a16="http://schemas.microsoft.com/office/drawing/2014/main" id="{6A7AF3FE-4A07-14CA-1340-101E10863A74}"/>
              </a:ext>
            </a:extLst>
          </p:cNvPr>
          <p:cNvPicPr>
            <a:picLocks noChangeAspect="1"/>
          </p:cNvPicPr>
          <p:nvPr/>
        </p:nvPicPr>
        <p:blipFill>
          <a:blip r:embed="rId3"/>
          <a:srcRect/>
          <a:stretch/>
        </p:blipFill>
        <p:spPr>
          <a:xfrm>
            <a:off x="2715768" y="5038581"/>
            <a:ext cx="3974593" cy="1051323"/>
          </a:xfrm>
          <a:prstGeom prst="rect">
            <a:avLst/>
          </a:prstGeom>
        </p:spPr>
      </p:pic>
    </p:spTree>
    <p:extLst>
      <p:ext uri="{BB962C8B-B14F-4D97-AF65-F5344CB8AC3E}">
        <p14:creationId xmlns:p14="http://schemas.microsoft.com/office/powerpoint/2010/main" val="2130656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D3840-E9E3-7F80-6DC1-4307371EA4A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7C7B2D1-11FC-094A-7CA2-E604E86AD35A}"/>
              </a:ext>
            </a:extLst>
          </p:cNvPr>
          <p:cNvSpPr>
            <a:spLocks noGrp="1"/>
          </p:cNvSpPr>
          <p:nvPr>
            <p:ph type="body" idx="1"/>
          </p:nvPr>
        </p:nvSpPr>
        <p:spPr>
          <a:xfrm>
            <a:off x="838200" y="521208"/>
            <a:ext cx="10515600" cy="5655755"/>
          </a:xfrm>
        </p:spPr>
        <p:txBody>
          <a:bodyPr/>
          <a:lstStyle/>
          <a:p>
            <a:pPr marL="114300" indent="0">
              <a:buNone/>
            </a:pPr>
            <a:r>
              <a:rPr lang="en-IN" sz="2400" dirty="0">
                <a:latin typeface="+mj-lt"/>
              </a:rPr>
              <a:t>4. </a:t>
            </a:r>
            <a:r>
              <a:rPr lang="en-US" sz="2400" dirty="0">
                <a:latin typeface="+mj-lt"/>
              </a:rPr>
              <a:t>What is the average value of </a:t>
            </a:r>
            <a:r>
              <a:rPr lang="en-US" sz="2400" dirty="0" err="1">
                <a:latin typeface="+mj-lt"/>
              </a:rPr>
              <a:t>total_amount</a:t>
            </a:r>
            <a:r>
              <a:rPr lang="en-US" sz="2400" dirty="0">
                <a:latin typeface="+mj-lt"/>
              </a:rPr>
              <a:t> after considering leave deductions?</a:t>
            </a:r>
            <a:endParaRPr lang="en-IN" sz="2400" dirty="0">
              <a:latin typeface="+mn-lt"/>
            </a:endParaRPr>
          </a:p>
          <a:p>
            <a:pPr marL="114300" indent="0">
              <a:buNone/>
            </a:pPr>
            <a:r>
              <a:rPr lang="en-IN" sz="2400" dirty="0">
                <a:latin typeface="+mn-lt"/>
              </a:rPr>
              <a:t> </a:t>
            </a:r>
          </a:p>
          <a:p>
            <a:pPr marL="114300" indent="0">
              <a:buNone/>
            </a:pPr>
            <a:r>
              <a:rPr lang="en-IN" sz="2400" dirty="0">
                <a:latin typeface="+mn-lt"/>
              </a:rPr>
              <a:t>     </a:t>
            </a:r>
          </a:p>
          <a:p>
            <a:pPr marL="114300" indent="0">
              <a:buNone/>
            </a:pPr>
            <a:endParaRPr lang="en-IN" sz="2400" dirty="0">
              <a:latin typeface="+mn-lt"/>
            </a:endParaRPr>
          </a:p>
          <a:p>
            <a:pPr marL="114300" indent="0">
              <a:buNone/>
            </a:pPr>
            <a:r>
              <a:rPr lang="en-IN" sz="2400" dirty="0">
                <a:latin typeface="+mn-lt"/>
              </a:rPr>
              <a:t>     </a:t>
            </a:r>
          </a:p>
          <a:p>
            <a:pPr marL="114300" indent="0">
              <a:buNone/>
            </a:pPr>
            <a:endParaRPr lang="en-IN" dirty="0">
              <a:latin typeface="+mn-lt"/>
            </a:endParaRPr>
          </a:p>
          <a:p>
            <a:pPr marL="114300" indent="0">
              <a:buNone/>
            </a:pPr>
            <a:r>
              <a:rPr lang="en-IN" dirty="0"/>
              <a:t>Output :</a:t>
            </a:r>
          </a:p>
          <a:p>
            <a:pPr marL="114300" indent="0">
              <a:buNone/>
            </a:pPr>
            <a:endParaRPr lang="en-IN" dirty="0">
              <a:latin typeface="+mn-lt"/>
            </a:endParaRPr>
          </a:p>
        </p:txBody>
      </p:sp>
      <p:pic>
        <p:nvPicPr>
          <p:cNvPr id="6" name="Picture 5">
            <a:extLst>
              <a:ext uri="{FF2B5EF4-FFF2-40B4-BE49-F238E27FC236}">
                <a16:creationId xmlns:a16="http://schemas.microsoft.com/office/drawing/2014/main" id="{5105E57E-6489-3F51-B93B-052BCD2BD57C}"/>
              </a:ext>
            </a:extLst>
          </p:cNvPr>
          <p:cNvPicPr>
            <a:picLocks noChangeAspect="1"/>
          </p:cNvPicPr>
          <p:nvPr/>
        </p:nvPicPr>
        <p:blipFill>
          <a:blip r:embed="rId2"/>
          <a:srcRect/>
          <a:stretch/>
        </p:blipFill>
        <p:spPr>
          <a:xfrm>
            <a:off x="2542032" y="1527048"/>
            <a:ext cx="6291072" cy="1709928"/>
          </a:xfrm>
          <a:prstGeom prst="rect">
            <a:avLst/>
          </a:prstGeom>
        </p:spPr>
      </p:pic>
      <p:pic>
        <p:nvPicPr>
          <p:cNvPr id="9" name="Picture 8">
            <a:extLst>
              <a:ext uri="{FF2B5EF4-FFF2-40B4-BE49-F238E27FC236}">
                <a16:creationId xmlns:a16="http://schemas.microsoft.com/office/drawing/2014/main" id="{155F8ADC-B83E-A14B-619E-92E9164FC8DD}"/>
              </a:ext>
            </a:extLst>
          </p:cNvPr>
          <p:cNvPicPr>
            <a:picLocks noChangeAspect="1"/>
          </p:cNvPicPr>
          <p:nvPr/>
        </p:nvPicPr>
        <p:blipFill>
          <a:blip r:embed="rId3"/>
          <a:srcRect/>
          <a:stretch/>
        </p:blipFill>
        <p:spPr>
          <a:xfrm>
            <a:off x="2971799" y="4809744"/>
            <a:ext cx="3974593" cy="1207008"/>
          </a:xfrm>
          <a:prstGeom prst="rect">
            <a:avLst/>
          </a:prstGeom>
        </p:spPr>
      </p:pic>
    </p:spTree>
    <p:extLst>
      <p:ext uri="{BB962C8B-B14F-4D97-AF65-F5344CB8AC3E}">
        <p14:creationId xmlns:p14="http://schemas.microsoft.com/office/powerpoint/2010/main" val="2690131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2CE3-9102-A93A-19B8-3EE80F904948}"/>
              </a:ext>
            </a:extLst>
          </p:cNvPr>
          <p:cNvSpPr>
            <a:spLocks noGrp="1"/>
          </p:cNvSpPr>
          <p:nvPr>
            <p:ph type="title"/>
          </p:nvPr>
        </p:nvSpPr>
        <p:spPr>
          <a:xfrm>
            <a:off x="838200" y="179614"/>
            <a:ext cx="10515600" cy="1324722"/>
          </a:xfrm>
        </p:spPr>
        <p:txBody>
          <a:bodyPr>
            <a:normAutofit/>
          </a:bodyPr>
          <a:lstStyle/>
          <a:p>
            <a:r>
              <a:rPr lang="en-IN" sz="3200" b="1" dirty="0">
                <a:solidFill>
                  <a:srgbClr val="FF0000"/>
                </a:solidFill>
                <a:latin typeface="+mj-lt"/>
              </a:rPr>
              <a:t>BUSINESS INSIGHTS</a:t>
            </a:r>
          </a:p>
        </p:txBody>
      </p:sp>
      <p:sp>
        <p:nvSpPr>
          <p:cNvPr id="4" name="Rectangle 1">
            <a:extLst>
              <a:ext uri="{FF2B5EF4-FFF2-40B4-BE49-F238E27FC236}">
                <a16:creationId xmlns:a16="http://schemas.microsoft.com/office/drawing/2014/main" id="{FB74ABEC-25A2-3618-356B-7D9F195BB207}"/>
              </a:ext>
            </a:extLst>
          </p:cNvPr>
          <p:cNvSpPr>
            <a:spLocks noGrp="1" noChangeArrowheads="1"/>
          </p:cNvSpPr>
          <p:nvPr>
            <p:ph type="body" idx="1"/>
          </p:nvPr>
        </p:nvSpPr>
        <p:spPr bwMode="auto">
          <a:xfrm>
            <a:off x="998955" y="1758503"/>
            <a:ext cx="660789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ClrTx/>
              <a:buSzTx/>
              <a:buNone/>
            </a:pPr>
            <a:r>
              <a:rPr lang="en-US" altLang="en-US" sz="2400" b="1" dirty="0">
                <a:solidFill>
                  <a:schemeClr val="tx1"/>
                </a:solidFill>
                <a:latin typeface="Arial" panose="020B0604020202020204" pitchFamily="34" charset="0"/>
              </a:rPr>
              <a:t>Improved Workforce Planning</a:t>
            </a:r>
            <a:br>
              <a:rPr lang="en-US" altLang="en-US" sz="2400" dirty="0">
                <a:solidFill>
                  <a:schemeClr val="tx1"/>
                </a:solidFill>
                <a:latin typeface="Arial" panose="020B0604020202020204" pitchFamily="34" charset="0"/>
              </a:rPr>
            </a:br>
            <a:r>
              <a:rPr lang="en-US" altLang="en-US" sz="2400" b="1" dirty="0">
                <a:solidFill>
                  <a:schemeClr val="tx1"/>
                </a:solidFill>
                <a:latin typeface="Arial" panose="020B0604020202020204" pitchFamily="34" charset="0"/>
              </a:rPr>
              <a:t>Higher Productivity through Role Alignment</a:t>
            </a:r>
            <a:br>
              <a:rPr lang="en-US" altLang="en-US" sz="2400" dirty="0">
                <a:solidFill>
                  <a:schemeClr val="tx1"/>
                </a:solidFill>
                <a:latin typeface="Arial" panose="020B0604020202020204" pitchFamily="34" charset="0"/>
              </a:rPr>
            </a:br>
            <a:r>
              <a:rPr lang="en-US" altLang="en-US" sz="2400" b="1" dirty="0">
                <a:solidFill>
                  <a:schemeClr val="tx1"/>
                </a:solidFill>
                <a:latin typeface="Arial" panose="020B0604020202020204" pitchFamily="34" charset="0"/>
              </a:rPr>
              <a:t>Effective Payroll &amp; Budget Management</a:t>
            </a:r>
            <a:br>
              <a:rPr lang="en-US" altLang="en-US" sz="2400" dirty="0">
                <a:solidFill>
                  <a:schemeClr val="tx1"/>
                </a:solidFill>
                <a:latin typeface="Arial" panose="020B0604020202020204" pitchFamily="34" charset="0"/>
              </a:rPr>
            </a:br>
            <a:r>
              <a:rPr lang="en-US" altLang="en-US" sz="2400" b="1" dirty="0">
                <a:solidFill>
                  <a:schemeClr val="tx1"/>
                </a:solidFill>
                <a:latin typeface="Arial" panose="020B0604020202020204" pitchFamily="34" charset="0"/>
              </a:rPr>
              <a:t>Stronger Talent &amp; Skill Development</a:t>
            </a:r>
            <a:br>
              <a:rPr lang="en-US" altLang="en-US" sz="2400" dirty="0">
                <a:solidFill>
                  <a:schemeClr val="tx1"/>
                </a:solidFill>
                <a:latin typeface="Arial" panose="020B0604020202020204" pitchFamily="34" charset="0"/>
              </a:rPr>
            </a:br>
            <a:r>
              <a:rPr lang="en-US" altLang="en-US" sz="2400" b="1" dirty="0">
                <a:solidFill>
                  <a:schemeClr val="tx1"/>
                </a:solidFill>
                <a:latin typeface="Arial" panose="020B0604020202020204" pitchFamily="34" charset="0"/>
              </a:rPr>
              <a:t>Better Leave &amp; Attendance Monitoring</a:t>
            </a:r>
            <a:br>
              <a:rPr lang="en-US" altLang="en-US" sz="2400" dirty="0">
                <a:solidFill>
                  <a:schemeClr val="tx1"/>
                </a:solidFill>
                <a:latin typeface="Arial" panose="020B0604020202020204" pitchFamily="34" charset="0"/>
              </a:rPr>
            </a:br>
            <a:r>
              <a:rPr lang="en-US" altLang="en-US" sz="2400" b="1" dirty="0">
                <a:solidFill>
                  <a:schemeClr val="tx1"/>
                </a:solidFill>
                <a:latin typeface="Arial" panose="020B0604020202020204" pitchFamily="34" charset="0"/>
              </a:rPr>
              <a:t>Data-Driven HR Decisions</a:t>
            </a:r>
            <a:br>
              <a:rPr lang="en-US" altLang="en-US" sz="2400" dirty="0">
                <a:solidFill>
                  <a:schemeClr val="tx1"/>
                </a:solidFill>
                <a:latin typeface="Arial" panose="020B0604020202020204" pitchFamily="34" charset="0"/>
              </a:rPr>
            </a:br>
            <a:br>
              <a:rPr lang="en-US" altLang="en-US" sz="1800" dirty="0">
                <a:solidFill>
                  <a:schemeClr val="tx1"/>
                </a:solidFill>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9172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6AA6-B31E-DAB6-C25F-3E7EF38B5D91}"/>
              </a:ext>
            </a:extLst>
          </p:cNvPr>
          <p:cNvSpPr>
            <a:spLocks noGrp="1"/>
          </p:cNvSpPr>
          <p:nvPr>
            <p:ph type="title"/>
          </p:nvPr>
        </p:nvSpPr>
        <p:spPr/>
        <p:txBody>
          <a:bodyPr>
            <a:normAutofit/>
          </a:bodyPr>
          <a:lstStyle/>
          <a:p>
            <a:r>
              <a:rPr lang="en-IN" sz="3200" b="1" dirty="0">
                <a:solidFill>
                  <a:srgbClr val="FF0000"/>
                </a:solidFill>
                <a:latin typeface="+mj-lt"/>
              </a:rPr>
              <a:t>RECOMMENDATIONS FOR BUSINESS</a:t>
            </a:r>
          </a:p>
        </p:txBody>
      </p:sp>
      <p:sp>
        <p:nvSpPr>
          <p:cNvPr id="4" name="Rectangle 1">
            <a:extLst>
              <a:ext uri="{FF2B5EF4-FFF2-40B4-BE49-F238E27FC236}">
                <a16:creationId xmlns:a16="http://schemas.microsoft.com/office/drawing/2014/main" id="{B72DFED3-1605-6B2B-4DAC-16BCE797517F}"/>
              </a:ext>
            </a:extLst>
          </p:cNvPr>
          <p:cNvSpPr>
            <a:spLocks noGrp="1" noChangeArrowheads="1"/>
          </p:cNvSpPr>
          <p:nvPr>
            <p:ph type="body" idx="1"/>
          </p:nvPr>
        </p:nvSpPr>
        <p:spPr bwMode="auto">
          <a:xfrm>
            <a:off x="838200" y="1603358"/>
            <a:ext cx="10308336" cy="38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Optimize Workforce Allocation</a:t>
            </a:r>
            <a:r>
              <a:rPr lang="en-US" sz="2000" dirty="0"/>
              <a:t> – Ensure the right staffing levels in each department based on skills and workload.</a:t>
            </a:r>
          </a:p>
          <a:p>
            <a:r>
              <a:rPr lang="en-US" sz="2000" b="1" dirty="0"/>
              <a:t>Align Roles with Skills</a:t>
            </a:r>
            <a:r>
              <a:rPr lang="en-US" sz="2000" dirty="0"/>
              <a:t> – Assign employees to roles that match their qualifications to boost productivity.</a:t>
            </a:r>
          </a:p>
          <a:p>
            <a:r>
              <a:rPr lang="en-US" sz="2000" b="1" dirty="0"/>
              <a:t>Manage Payroll &amp; Budget</a:t>
            </a:r>
            <a:r>
              <a:rPr lang="en-US" sz="2000" dirty="0"/>
              <a:t> – Monitor salaries, bonuses, and leave deductions to control costs efficiently.</a:t>
            </a:r>
          </a:p>
          <a:p>
            <a:r>
              <a:rPr lang="en-US" sz="2000" b="1" dirty="0"/>
              <a:t>Invest in Employee Development</a:t>
            </a:r>
            <a:r>
              <a:rPr lang="en-US" sz="2000" dirty="0"/>
              <a:t> – Identify skill gaps and provide targeted training programs.</a:t>
            </a:r>
          </a:p>
          <a:p>
            <a:r>
              <a:rPr lang="en-US" sz="2000" b="1" dirty="0"/>
              <a:t>Enhance Data-Driven HR Decisions</a:t>
            </a:r>
            <a:r>
              <a:rPr lang="en-US" sz="2000" dirty="0"/>
              <a:t> – Use centralized employee data for hiring, promotions, attendance, and performance management.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9302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D8DE6-30C6-AA33-5F03-A6EA2F07CF87}"/>
              </a:ext>
            </a:extLst>
          </p:cNvPr>
          <p:cNvSpPr>
            <a:spLocks noGrp="1"/>
          </p:cNvSpPr>
          <p:nvPr>
            <p:ph type="title"/>
          </p:nvPr>
        </p:nvSpPr>
        <p:spPr/>
        <p:txBody>
          <a:bodyPr>
            <a:normAutofit/>
          </a:bodyPr>
          <a:lstStyle/>
          <a:p>
            <a:r>
              <a:rPr lang="en-IN" sz="3200" b="1" dirty="0">
                <a:solidFill>
                  <a:srgbClr val="FF0000"/>
                </a:solidFill>
                <a:latin typeface="+mn-lt"/>
              </a:rPr>
              <a:t>CONCLUSION</a:t>
            </a:r>
          </a:p>
        </p:txBody>
      </p:sp>
      <p:sp>
        <p:nvSpPr>
          <p:cNvPr id="4" name="Rectangle 1">
            <a:extLst>
              <a:ext uri="{FF2B5EF4-FFF2-40B4-BE49-F238E27FC236}">
                <a16:creationId xmlns:a16="http://schemas.microsoft.com/office/drawing/2014/main" id="{211ED2DD-07F1-6E4A-7758-C36EEA048BC6}"/>
              </a:ext>
            </a:extLst>
          </p:cNvPr>
          <p:cNvSpPr>
            <a:spLocks noGrp="1" noChangeArrowheads="1"/>
          </p:cNvSpPr>
          <p:nvPr>
            <p:ph type="body" idx="1"/>
          </p:nvPr>
        </p:nvSpPr>
        <p:spPr bwMode="auto">
          <a:xfrm>
            <a:off x="838201" y="1321797"/>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ClrTx/>
              <a:buSzTx/>
              <a:buNone/>
            </a:pPr>
            <a:r>
              <a:rPr lang="en-US" dirty="0"/>
              <a:t>The Employee Management System centralizes employee data for efficient HR management. It streamlines payroll, leave tracking, and role assignments while supporting data-driven decisions. The system enhances productivity, transparency, and overall organizational efficiency.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851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2DAE-766E-A864-0826-716BDBF823F5}"/>
              </a:ext>
            </a:extLst>
          </p:cNvPr>
          <p:cNvSpPr>
            <a:spLocks noGrp="1"/>
          </p:cNvSpPr>
          <p:nvPr>
            <p:ph type="title"/>
          </p:nvPr>
        </p:nvSpPr>
        <p:spPr>
          <a:xfrm>
            <a:off x="838200" y="245807"/>
            <a:ext cx="10515600" cy="2182762"/>
          </a:xfrm>
        </p:spPr>
        <p:txBody>
          <a:bodyPr>
            <a:normAutofit/>
          </a:bodyPr>
          <a:lstStyle/>
          <a:p>
            <a:r>
              <a:rPr lang="en-IN" sz="3200" b="1" dirty="0">
                <a:solidFill>
                  <a:srgbClr val="FF0000"/>
                </a:solidFill>
                <a:latin typeface="+mj-lt"/>
              </a:rPr>
              <a:t>CHALLENGES WORKING ON SQL-DATA ANALYSIS PROJECT </a:t>
            </a:r>
          </a:p>
        </p:txBody>
      </p:sp>
      <p:sp>
        <p:nvSpPr>
          <p:cNvPr id="3" name="Text Placeholder 2">
            <a:extLst>
              <a:ext uri="{FF2B5EF4-FFF2-40B4-BE49-F238E27FC236}">
                <a16:creationId xmlns:a16="http://schemas.microsoft.com/office/drawing/2014/main" id="{0257FA53-6409-21A7-C338-11265204E303}"/>
              </a:ext>
            </a:extLst>
          </p:cNvPr>
          <p:cNvSpPr>
            <a:spLocks noGrp="1"/>
          </p:cNvSpPr>
          <p:nvPr>
            <p:ph type="body" idx="1"/>
          </p:nvPr>
        </p:nvSpPr>
        <p:spPr>
          <a:xfrm>
            <a:off x="771088" y="1895912"/>
            <a:ext cx="10515600" cy="4356552"/>
          </a:xfrm>
        </p:spPr>
        <p:txBody>
          <a:bodyPr>
            <a:normAutofit/>
          </a:bodyPr>
          <a:lstStyle/>
          <a:p>
            <a:pPr>
              <a:lnSpc>
                <a:spcPct val="100000"/>
              </a:lnSpc>
              <a:buFont typeface="Arial" panose="020B0604020202020204" pitchFamily="34" charset="0"/>
              <a:buChar char="•"/>
            </a:pPr>
            <a:r>
              <a:rPr lang="en-US" sz="2400" dirty="0">
                <a:latin typeface="+mn-lt"/>
              </a:rPr>
              <a:t>Writing complex queries with joins was a bit tricky.</a:t>
            </a:r>
          </a:p>
          <a:p>
            <a:pPr>
              <a:lnSpc>
                <a:spcPct val="100000"/>
              </a:lnSpc>
            </a:pPr>
            <a:r>
              <a:rPr lang="en-US" sz="2400" dirty="0">
                <a:latin typeface="+mn-lt"/>
              </a:rPr>
              <a:t>Sometimes queries took longer, so I had to optimize them.</a:t>
            </a:r>
          </a:p>
          <a:p>
            <a:pPr>
              <a:lnSpc>
                <a:spcPct val="100000"/>
              </a:lnSpc>
            </a:pPr>
            <a:r>
              <a:rPr lang="en-US" sz="2400" dirty="0">
                <a:latin typeface="+mn-lt"/>
              </a:rPr>
              <a:t>Maintaining data accuracy with keys and constraints was important.</a:t>
            </a:r>
          </a:p>
          <a:p>
            <a:pPr>
              <a:lnSpc>
                <a:spcPct val="100000"/>
              </a:lnSpc>
            </a:pPr>
            <a:r>
              <a:rPr lang="en-US" sz="2400" dirty="0">
                <a:latin typeface="+mn-lt"/>
              </a:rPr>
              <a:t>Converting query results into meaningful insights was challenging.</a:t>
            </a:r>
            <a:endParaRPr lang="en-IN" sz="2400" dirty="0">
              <a:latin typeface="+mn-lt"/>
            </a:endParaRPr>
          </a:p>
        </p:txBody>
      </p:sp>
    </p:spTree>
    <p:extLst>
      <p:ext uri="{BB962C8B-B14F-4D97-AF65-F5344CB8AC3E}">
        <p14:creationId xmlns:p14="http://schemas.microsoft.com/office/powerpoint/2010/main" val="3443948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0BEAD8-3050-5F64-CA7E-98E4CA978614}"/>
              </a:ext>
            </a:extLst>
          </p:cNvPr>
          <p:cNvSpPr>
            <a:spLocks noGrp="1"/>
          </p:cNvSpPr>
          <p:nvPr>
            <p:ph type="body" idx="1"/>
          </p:nvPr>
        </p:nvSpPr>
        <p:spPr>
          <a:xfrm>
            <a:off x="838200" y="432619"/>
            <a:ext cx="10515600" cy="5744344"/>
          </a:xfrm>
        </p:spPr>
        <p:txBody>
          <a:bodyPr/>
          <a:lstStyle/>
          <a:p>
            <a:pPr marL="114300" indent="0">
              <a:buNone/>
            </a:pPr>
            <a:endParaRPr lang="en-IN" dirty="0"/>
          </a:p>
          <a:p>
            <a:pPr marL="114300" indent="0">
              <a:buNone/>
            </a:pPr>
            <a:endParaRPr lang="en-IN" dirty="0"/>
          </a:p>
          <a:p>
            <a:pPr marL="114300" indent="0">
              <a:buNone/>
            </a:pPr>
            <a:endParaRPr lang="en-IN" dirty="0"/>
          </a:p>
          <a:p>
            <a:pPr marL="114300" indent="0" algn="ctr">
              <a:buNone/>
            </a:pPr>
            <a:endParaRPr lang="en-IN" dirty="0"/>
          </a:p>
          <a:p>
            <a:pPr marL="114300" indent="0" algn="ctr">
              <a:buNone/>
            </a:pPr>
            <a:r>
              <a:rPr lang="en-IN" sz="3200" b="1" dirty="0">
                <a:solidFill>
                  <a:srgbClr val="FF0000"/>
                </a:solidFill>
                <a:latin typeface="+mn-lt"/>
              </a:rPr>
              <a:t>THANK YOU</a:t>
            </a:r>
          </a:p>
        </p:txBody>
      </p:sp>
    </p:spTree>
    <p:extLst>
      <p:ext uri="{BB962C8B-B14F-4D97-AF65-F5344CB8AC3E}">
        <p14:creationId xmlns:p14="http://schemas.microsoft.com/office/powerpoint/2010/main" val="12544859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1137</TotalTime>
  <Words>899</Words>
  <Application>Microsoft Office PowerPoint</Application>
  <PresentationFormat>Widescreen</PresentationFormat>
  <Paragraphs>199</Paragraphs>
  <Slides>32</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Calibri</vt:lpstr>
      <vt:lpstr>Arial</vt:lpstr>
      <vt:lpstr>Office Theme</vt:lpstr>
      <vt:lpstr>PowerPoint Presentation</vt:lpstr>
      <vt:lpstr>Agenda</vt:lpstr>
      <vt:lpstr>OBJECTIVE OF THE PROJECT</vt:lpstr>
      <vt:lpstr>PROBLEM STATEMENT</vt:lpstr>
      <vt:lpstr>ENTITY- RELATIONSHIP DIAGRAM</vt:lpstr>
      <vt:lpstr>SCHEMA EXPLANATION</vt:lpstr>
      <vt:lpstr>EMPLOYEE INSIGHTS</vt:lpstr>
      <vt:lpstr>PowerPoint Presentation</vt:lpstr>
      <vt:lpstr>PowerPoint Presentation</vt:lpstr>
      <vt:lpstr>PowerPoint Presentation</vt:lpstr>
      <vt:lpstr>PowerPoint Presentation</vt:lpstr>
      <vt:lpstr>JOB ROLE AND DEPARTMENT ANALYSIS</vt:lpstr>
      <vt:lpstr>PowerPoint Presentation</vt:lpstr>
      <vt:lpstr>PowerPoint Presentation</vt:lpstr>
      <vt:lpstr>PowerPoint Presentation</vt:lpstr>
      <vt:lpstr>QUALIFICATION AND SKILLS ANALYSIS</vt:lpstr>
      <vt:lpstr>PowerPoint Presentation</vt:lpstr>
      <vt:lpstr>PowerPoint Presentation</vt:lpstr>
      <vt:lpstr> LEAVE AND ABSENCE PATTERNS</vt:lpstr>
      <vt:lpstr>PowerPoint Presentation</vt:lpstr>
      <vt:lpstr>PowerPoint Presentation</vt:lpstr>
      <vt:lpstr>PowerPoint Presentation</vt:lpstr>
      <vt:lpstr>PowerPoint Presentation</vt:lpstr>
      <vt:lpstr>PAYROLL AND COMPENSATION ANALYSIS</vt:lpstr>
      <vt:lpstr>PowerPoint Presentation</vt:lpstr>
      <vt:lpstr>PowerPoint Presentation</vt:lpstr>
      <vt:lpstr>PowerPoint Presentation</vt:lpstr>
      <vt:lpstr>BUSINESS INSIGHTS</vt:lpstr>
      <vt:lpstr>RECOMMENDATIONS FOR BUSINESS</vt:lpstr>
      <vt:lpstr>CONCLUSION</vt:lpstr>
      <vt:lpstr>CHALLENGES WORKING ON SQL-DATA ANALYSIS PROJECT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Neeraja Dusnamoni</cp:lastModifiedBy>
  <cp:revision>9</cp:revision>
  <dcterms:created xsi:type="dcterms:W3CDTF">2021-02-16T05:19:01Z</dcterms:created>
  <dcterms:modified xsi:type="dcterms:W3CDTF">2025-12-06T07:51:56Z</dcterms:modified>
</cp:coreProperties>
</file>